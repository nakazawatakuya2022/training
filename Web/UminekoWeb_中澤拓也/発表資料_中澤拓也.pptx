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3"/>
  </p:notesMasterIdLst>
  <p:sldIdLst>
    <p:sldId id="256" r:id="rId2"/>
    <p:sldId id="263" r:id="rId3"/>
    <p:sldId id="264" r:id="rId4"/>
    <p:sldId id="265" r:id="rId5"/>
    <p:sldId id="266" r:id="rId6"/>
    <p:sldId id="267" r:id="rId7"/>
    <p:sldId id="268" r:id="rId8"/>
    <p:sldId id="269" r:id="rId9"/>
    <p:sldId id="270" r:id="rId10"/>
    <p:sldId id="271" r:id="rId11"/>
    <p:sldId id="274"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415" autoAdjust="0"/>
  </p:normalViewPr>
  <p:slideViewPr>
    <p:cSldViewPr snapToGrid="0">
      <p:cViewPr varScale="1">
        <p:scale>
          <a:sx n="54" d="100"/>
          <a:sy n="54" d="100"/>
        </p:scale>
        <p:origin x="13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8B03D-EC97-49AC-B16A-822760B2A63D}" type="datetimeFigureOut">
              <a:rPr kumimoji="1" lang="ja-JP" altLang="en-US" smtClean="0"/>
              <a:t>2026/5/29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97B567-DCFF-45C4-B2F4-05D37AC39A4E}" type="slidenum">
              <a:rPr kumimoji="1" lang="ja-JP" altLang="en-US" smtClean="0"/>
              <a:t>‹#›</a:t>
            </a:fld>
            <a:endParaRPr kumimoji="1" lang="ja-JP" altLang="en-US"/>
          </a:p>
        </p:txBody>
      </p:sp>
    </p:spTree>
    <p:extLst>
      <p:ext uri="{BB962C8B-B14F-4D97-AF65-F5344CB8AC3E}">
        <p14:creationId xmlns:p14="http://schemas.microsoft.com/office/powerpoint/2010/main" val="27727551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株式会社マプコンの中澤拓也です。</a:t>
            </a:r>
            <a:endParaRPr kumimoji="1" lang="en-US" altLang="ja-JP" dirty="0"/>
          </a:p>
          <a:p>
            <a:r>
              <a:rPr kumimoji="1" lang="ja-JP" altLang="en-US" dirty="0"/>
              <a:t>総合演習の発表をさせていただきます。</a:t>
            </a:r>
            <a:endParaRPr kumimoji="1" lang="en-US" altLang="ja-JP" dirty="0"/>
          </a:p>
          <a:p>
            <a:r>
              <a:rPr kumimoji="1" lang="ja-JP" altLang="en-US" dirty="0"/>
              <a:t>発表と質疑応答でおよそ</a:t>
            </a:r>
            <a:r>
              <a:rPr kumimoji="1" lang="en-US" altLang="ja-JP" dirty="0"/>
              <a:t>12</a:t>
            </a:r>
            <a:r>
              <a:rPr kumimoji="1" lang="ja-JP" altLang="en-US" dirty="0"/>
              <a:t>分前後を予定しております。</a:t>
            </a:r>
            <a:endParaRPr kumimoji="1" lang="en-US" altLang="ja-JP" dirty="0"/>
          </a:p>
          <a:p>
            <a:r>
              <a:rPr kumimoji="1" lang="ja-JP" altLang="en-US" dirty="0"/>
              <a:t>よろしくお願いいたします。</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1</a:t>
            </a:fld>
            <a:endParaRPr kumimoji="1" lang="ja-JP" altLang="en-US"/>
          </a:p>
        </p:txBody>
      </p:sp>
    </p:spTree>
    <p:extLst>
      <p:ext uri="{BB962C8B-B14F-4D97-AF65-F5344CB8AC3E}">
        <p14:creationId xmlns:p14="http://schemas.microsoft.com/office/powerpoint/2010/main" val="3395208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まず発表全体の流れを説明させていただきます。</a:t>
            </a:r>
            <a:endParaRPr kumimoji="1" lang="en-US" altLang="ja-JP" dirty="0"/>
          </a:p>
          <a:p>
            <a:r>
              <a:rPr kumimoji="1" lang="ja-JP" altLang="en-US" dirty="0"/>
              <a:t>システム概要や構成と目的をお話しさせていただいた後、実際動いている画面をお見せいたします。</a:t>
            </a:r>
            <a:endParaRPr kumimoji="1" lang="en-US" altLang="ja-JP" dirty="0"/>
          </a:p>
          <a:p>
            <a:r>
              <a:rPr kumimoji="1" lang="ja-JP" altLang="en-US" dirty="0"/>
              <a:t>その後まとめとして総合演習や研修全体の所感についてお話しさせていただきます。</a:t>
            </a:r>
            <a:endParaRPr kumimoji="1" lang="en-US" altLang="ja-JP" dirty="0"/>
          </a:p>
          <a:p>
            <a:r>
              <a:rPr kumimoji="1" lang="ja-JP" altLang="en-US" dirty="0"/>
              <a:t>発表が終わり次第質疑応答に入らさせていただきます。</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2</a:t>
            </a:fld>
            <a:endParaRPr kumimoji="1" lang="ja-JP" altLang="en-US"/>
          </a:p>
        </p:txBody>
      </p:sp>
    </p:spTree>
    <p:extLst>
      <p:ext uri="{BB962C8B-B14F-4D97-AF65-F5344CB8AC3E}">
        <p14:creationId xmlns:p14="http://schemas.microsoft.com/office/powerpoint/2010/main" val="2042154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システム概要と主要機能を読み上げる</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3</a:t>
            </a:fld>
            <a:endParaRPr kumimoji="1" lang="ja-JP" altLang="en-US"/>
          </a:p>
        </p:txBody>
      </p:sp>
    </p:spTree>
    <p:extLst>
      <p:ext uri="{BB962C8B-B14F-4D97-AF65-F5344CB8AC3E}">
        <p14:creationId xmlns:p14="http://schemas.microsoft.com/office/powerpoint/2010/main" val="3994421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開発目的を業務面と学習面から説明</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4</a:t>
            </a:fld>
            <a:endParaRPr kumimoji="1" lang="ja-JP" altLang="en-US"/>
          </a:p>
        </p:txBody>
      </p:sp>
    </p:spTree>
    <p:extLst>
      <p:ext uri="{BB962C8B-B14F-4D97-AF65-F5344CB8AC3E}">
        <p14:creationId xmlns:p14="http://schemas.microsoft.com/office/powerpoint/2010/main" val="488787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利用者（ユーザー）</a:t>
            </a:r>
            <a:endParaRPr lang="ja-JP" altLang="en-US" dirty="0"/>
          </a:p>
          <a:p>
            <a:pPr>
              <a:buFont typeface="Arial" panose="020B0604020202020204" pitchFamily="34" charset="0"/>
              <a:buChar char="•"/>
            </a:pPr>
            <a:r>
              <a:rPr lang="ja-JP" altLang="en-US" dirty="0"/>
              <a:t>システムを使う人です。画面を操作してリクエストを送ります。</a:t>
            </a:r>
          </a:p>
          <a:p>
            <a:r>
              <a:rPr lang="en-US" altLang="ja-JP" b="1" dirty="0"/>
              <a:t>Razor Pages</a:t>
            </a:r>
            <a:r>
              <a:rPr lang="ja-JP" altLang="en-US" b="1" dirty="0"/>
              <a:t>（画面）</a:t>
            </a:r>
            <a:endParaRPr lang="ja-JP" altLang="en-US" dirty="0"/>
          </a:p>
          <a:p>
            <a:pPr>
              <a:buFont typeface="Arial" panose="020B0604020202020204" pitchFamily="34" charset="0"/>
              <a:buChar char="•"/>
            </a:pPr>
            <a:r>
              <a:rPr lang="ja-JP" altLang="en-US" dirty="0"/>
              <a:t>ユーザーが実際に目で見る「</a:t>
            </a:r>
            <a:r>
              <a:rPr lang="en-US" altLang="ja-JP" dirty="0"/>
              <a:t>Web</a:t>
            </a:r>
            <a:r>
              <a:rPr lang="ja-JP" altLang="en-US" dirty="0"/>
              <a:t>画面」のレイアウトを担当する部分です。操作を受け付けます。</a:t>
            </a:r>
          </a:p>
          <a:p>
            <a:r>
              <a:rPr lang="en-US" altLang="ja-JP" b="1" dirty="0" err="1"/>
              <a:t>PageModel</a:t>
            </a:r>
            <a:r>
              <a:rPr lang="ja-JP" altLang="en-US" b="1" dirty="0"/>
              <a:t>（処理制御）</a:t>
            </a:r>
            <a:endParaRPr lang="ja-JP" altLang="en-US" dirty="0"/>
          </a:p>
          <a:p>
            <a:pPr>
              <a:buFont typeface="Arial" panose="020B0604020202020204" pitchFamily="34" charset="0"/>
              <a:buChar char="•"/>
            </a:pPr>
            <a:r>
              <a:rPr lang="ja-JP" altLang="en-US" dirty="0"/>
              <a:t>画面の裏側で動く「コントローラー」のような役割です。画面から送られてきたデータを受け取り、どのような処理を行うかのコントロール（制御）をします。</a:t>
            </a:r>
          </a:p>
          <a:p>
            <a:r>
              <a:rPr lang="en-US" altLang="ja-JP" b="1" dirty="0"/>
              <a:t>Service</a:t>
            </a:r>
            <a:r>
              <a:rPr lang="ja-JP" altLang="en-US" b="1" dirty="0"/>
              <a:t>（</a:t>
            </a:r>
            <a:r>
              <a:rPr lang="en-US" altLang="ja-JP" b="1" dirty="0"/>
              <a:t>DB</a:t>
            </a:r>
            <a:r>
              <a:rPr lang="ja-JP" altLang="en-US" b="1" dirty="0"/>
              <a:t>アクセス）</a:t>
            </a:r>
            <a:endParaRPr lang="ja-JP" altLang="en-US" dirty="0"/>
          </a:p>
          <a:p>
            <a:pPr>
              <a:buFont typeface="Arial" panose="020B0604020202020204" pitchFamily="34" charset="0"/>
              <a:buChar char="•"/>
            </a:pPr>
            <a:r>
              <a:rPr lang="ja-JP" altLang="en-US" dirty="0"/>
              <a:t>データベースとやり取りをするための処理を担当する部分です。データを保存・更新するための命令を準備します。</a:t>
            </a:r>
          </a:p>
          <a:p>
            <a:r>
              <a:rPr lang="en-US" altLang="ja-JP" b="1" dirty="0"/>
              <a:t>SQL Server</a:t>
            </a:r>
            <a:r>
              <a:rPr lang="ja-JP" altLang="en-US" b="1" dirty="0"/>
              <a:t>（データ管理）</a:t>
            </a:r>
            <a:endParaRPr lang="ja-JP" altLang="en-US" dirty="0"/>
          </a:p>
          <a:p>
            <a:pPr>
              <a:buFont typeface="Arial" panose="020B0604020202020204" pitchFamily="34" charset="0"/>
              <a:buChar char="•"/>
            </a:pPr>
            <a:r>
              <a:rPr lang="ja-JP" altLang="en-US" dirty="0"/>
              <a:t>最終的なデータを蓄積・管理する「データベース」です。</a:t>
            </a:r>
            <a:r>
              <a:rPr lang="en-US" altLang="ja-JP" dirty="0"/>
              <a:t>Service</a:t>
            </a:r>
            <a:r>
              <a:rPr lang="ja-JP" altLang="en-US" dirty="0"/>
              <a:t>からの命令を受けて、データが実際に更新されます。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5</a:t>
            </a:fld>
            <a:endParaRPr kumimoji="1" lang="ja-JP" altLang="en-US"/>
          </a:p>
        </p:txBody>
      </p:sp>
    </p:spTree>
    <p:extLst>
      <p:ext uri="{BB962C8B-B14F-4D97-AF65-F5344CB8AC3E}">
        <p14:creationId xmlns:p14="http://schemas.microsoft.com/office/powerpoint/2010/main" val="1675271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使用技術の説明。</a:t>
            </a:r>
            <a:endParaRPr kumimoji="1" lang="en-US" altLang="ja-JP" dirty="0"/>
          </a:p>
          <a:p>
            <a:r>
              <a:rPr kumimoji="1" lang="en-US" altLang="ja-JP" dirty="0"/>
              <a:t>CSS</a:t>
            </a:r>
            <a:r>
              <a:rPr kumimoji="1" lang="ja-JP" altLang="en-US" dirty="0"/>
              <a:t>はブートストラップにあるものを使用したので触ったわけではないことを説明</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6</a:t>
            </a:fld>
            <a:endParaRPr kumimoji="1" lang="ja-JP" altLang="en-US"/>
          </a:p>
        </p:txBody>
      </p:sp>
    </p:spTree>
    <p:extLst>
      <p:ext uri="{BB962C8B-B14F-4D97-AF65-F5344CB8AC3E}">
        <p14:creationId xmlns:p14="http://schemas.microsoft.com/office/powerpoint/2010/main" val="1862089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時間の都合上、入力を伴う処理については事前にデータを準備しております。</a:t>
            </a:r>
          </a:p>
          <a:p>
            <a:r>
              <a:rPr kumimoji="1" lang="ja-JP" altLang="en-US" dirty="0"/>
              <a:t>今回は貸出・返却・履歴確認などの主要機能を中心にご紹介します。</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7</a:t>
            </a:fld>
            <a:endParaRPr kumimoji="1" lang="ja-JP" altLang="en-US"/>
          </a:p>
        </p:txBody>
      </p:sp>
    </p:spTree>
    <p:extLst>
      <p:ext uri="{BB962C8B-B14F-4D97-AF65-F5344CB8AC3E}">
        <p14:creationId xmlns:p14="http://schemas.microsoft.com/office/powerpoint/2010/main" val="3457403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総合演習の所感を学んだこと、苦労したこと両面から説明</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8</a:t>
            </a:fld>
            <a:endParaRPr kumimoji="1" lang="ja-JP" altLang="en-US"/>
          </a:p>
        </p:txBody>
      </p:sp>
    </p:spTree>
    <p:extLst>
      <p:ext uri="{BB962C8B-B14F-4D97-AF65-F5344CB8AC3E}">
        <p14:creationId xmlns:p14="http://schemas.microsoft.com/office/powerpoint/2010/main" val="30243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入門編では、アルゴリズム、条件分岐、繰り返し処理、配列、メソッド、クラスなど、プログラミングの基礎を学習しました。</a:t>
            </a:r>
            <a:endParaRPr kumimoji="1" lang="en-US" altLang="ja-JP" dirty="0"/>
          </a:p>
          <a:p>
            <a:r>
              <a:rPr kumimoji="1" lang="ja-JP" altLang="en-US" dirty="0"/>
              <a:t>基礎編では、オーバーロード、</a:t>
            </a:r>
            <a:r>
              <a:rPr kumimoji="1" lang="en-US" altLang="ja-JP" dirty="0"/>
              <a:t>static</a:t>
            </a:r>
            <a:r>
              <a:rPr kumimoji="1" lang="ja-JP" altLang="en-US" dirty="0"/>
              <a:t>、カプセル化、継承、ポリモーフィズムなど、オブジェクト指向プログラミングについて学習しました。</a:t>
            </a:r>
            <a:endParaRPr kumimoji="1" lang="en-US" altLang="ja-JP" dirty="0"/>
          </a:p>
          <a:p>
            <a:r>
              <a:rPr kumimoji="1" lang="en-US" altLang="ja-JP" dirty="0"/>
              <a:t>SQL Server</a:t>
            </a:r>
            <a:r>
              <a:rPr kumimoji="1" lang="ja-JP" altLang="en-US" dirty="0"/>
              <a:t>を利用したデータベース操作を学習し、</a:t>
            </a:r>
            <a:r>
              <a:rPr lang="en-US" altLang="ja-JP" dirty="0"/>
              <a:t>Windows </a:t>
            </a:r>
            <a:r>
              <a:rPr lang="ja-JP" altLang="en-US" dirty="0"/>
              <a:t>フォーム</a:t>
            </a:r>
            <a:r>
              <a:rPr kumimoji="1" lang="ja-JP" altLang="en-US" dirty="0"/>
              <a:t>を用いて</a:t>
            </a:r>
            <a:r>
              <a:rPr kumimoji="1" lang="en-US" altLang="ja-JP" dirty="0"/>
              <a:t>CRUD</a:t>
            </a:r>
            <a:r>
              <a:rPr kumimoji="1" lang="ja-JP" altLang="en-US" dirty="0"/>
              <a:t>処理の実装を経験しました。</a:t>
            </a:r>
            <a:endParaRPr kumimoji="1" lang="en-US" altLang="ja-JP" dirty="0"/>
          </a:p>
          <a:p>
            <a:r>
              <a:rPr kumimoji="1" lang="en-US" altLang="ja-JP" dirty="0"/>
              <a:t>Web</a:t>
            </a:r>
            <a:r>
              <a:rPr kumimoji="1" lang="ja-JP" altLang="en-US" dirty="0"/>
              <a:t>編では、</a:t>
            </a:r>
            <a:r>
              <a:rPr kumimoji="1" lang="en-US" altLang="ja-JP" dirty="0"/>
              <a:t>Razor Pages</a:t>
            </a:r>
            <a:r>
              <a:rPr kumimoji="1" lang="ja-JP" altLang="en-US" dirty="0"/>
              <a:t>を利用した</a:t>
            </a:r>
            <a:r>
              <a:rPr kumimoji="1" lang="en-US" altLang="ja-JP" dirty="0"/>
              <a:t>Web</a:t>
            </a:r>
            <a:r>
              <a:rPr kumimoji="1" lang="ja-JP" altLang="en-US" dirty="0"/>
              <a:t>アプリケーション開発を学習しました。</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9</a:t>
            </a:fld>
            <a:endParaRPr kumimoji="1" lang="ja-JP" altLang="en-US"/>
          </a:p>
        </p:txBody>
      </p:sp>
    </p:spTree>
    <p:extLst>
      <p:ext uri="{BB962C8B-B14F-4D97-AF65-F5344CB8AC3E}">
        <p14:creationId xmlns:p14="http://schemas.microsoft.com/office/powerpoint/2010/main" val="723858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まとめは読み上げるだけ</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10</a:t>
            </a:fld>
            <a:endParaRPr kumimoji="1" lang="ja-JP" altLang="en-US"/>
          </a:p>
        </p:txBody>
      </p:sp>
    </p:spTree>
    <p:extLst>
      <p:ext uri="{BB962C8B-B14F-4D97-AF65-F5344CB8AC3E}">
        <p14:creationId xmlns:p14="http://schemas.microsoft.com/office/powerpoint/2010/main" val="1267870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以上で発表を終了させていただきます。</a:t>
            </a:r>
            <a:endParaRPr kumimoji="1" lang="en-US" altLang="ja-JP" dirty="0"/>
          </a:p>
          <a:p>
            <a:r>
              <a:rPr kumimoji="1" lang="ja-JP" altLang="en-US" dirty="0"/>
              <a:t>ご清聴ありがとうございました。</a:t>
            </a:r>
            <a:endParaRPr kumimoji="1" lang="en-US" altLang="ja-JP" dirty="0"/>
          </a:p>
          <a:p>
            <a:r>
              <a:rPr kumimoji="1" lang="ja-JP" altLang="en-US" dirty="0"/>
              <a:t>続いて質疑応答に入らさせていただきます。なにか質問等ございましたらお願いいたします。</a:t>
            </a:r>
          </a:p>
        </p:txBody>
      </p:sp>
      <p:sp>
        <p:nvSpPr>
          <p:cNvPr id="4" name="スライド番号プレースホルダー 3"/>
          <p:cNvSpPr>
            <a:spLocks noGrp="1"/>
          </p:cNvSpPr>
          <p:nvPr>
            <p:ph type="sldNum" sz="quarter" idx="5"/>
          </p:nvPr>
        </p:nvSpPr>
        <p:spPr/>
        <p:txBody>
          <a:bodyPr/>
          <a:lstStyle/>
          <a:p>
            <a:fld id="{BD97B567-DCFF-45C4-B2F4-05D37AC39A4E}" type="slidenum">
              <a:rPr kumimoji="1" lang="ja-JP" altLang="en-US" smtClean="0"/>
              <a:t>11</a:t>
            </a:fld>
            <a:endParaRPr kumimoji="1" lang="ja-JP" altLang="en-US"/>
          </a:p>
        </p:txBody>
      </p:sp>
    </p:spTree>
    <p:extLst>
      <p:ext uri="{BB962C8B-B14F-4D97-AF65-F5344CB8AC3E}">
        <p14:creationId xmlns:p14="http://schemas.microsoft.com/office/powerpoint/2010/main" val="3480187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5930AB-F11A-D207-BFA6-8871D930D87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CFB0757-C2C3-E82C-7B8A-CF75040DE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EB1DB77-A69B-EEE2-E619-AE49DD270023}"/>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11E54983-675C-ED90-86D6-97550416473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7650EF9-307E-1D9E-0E5C-6BA81D70097C}"/>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3223709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E25111-434B-73F9-FDDF-184B0FEC6A2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509B1C8-7306-A3B4-414E-6282FC74BA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1DA4EF-8D9A-63FA-C663-3AACD0777230}"/>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CA93970D-A452-EEE8-BF5E-533F2FCA7D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F1EC1FF-88EB-7688-9412-3DA153ACB90C}"/>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3302883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FB2E04-7947-D48B-2AE1-D33BAC2169E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C7C425B-AA0A-9186-22D4-3CBA2A6945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57231E9-40B4-7E07-A7A4-648CE4F1A807}"/>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401C76FE-DE95-439A-933D-C7ABF483DC0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B972B92-D609-7404-E6A7-A4EDFF42503E}"/>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4180213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5C2BEB-3513-A057-9713-59112110C3A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595E10-C7A1-5D33-2F7F-981D697B0E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B48E73F-C5AD-DE7E-A328-9E31313A771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80E3B7A-D52C-C37B-EFB6-E7F2CBB6D8CF}"/>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6" name="フッター プレースホルダー 5">
            <a:extLst>
              <a:ext uri="{FF2B5EF4-FFF2-40B4-BE49-F238E27FC236}">
                <a16:creationId xmlns:a16="http://schemas.microsoft.com/office/drawing/2014/main" id="{B0723D6F-5A22-C7CC-3547-DB136AD8C6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4E631D1-C1B2-24AC-5C0E-DF9E5FCBD1AE}"/>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1114797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00A3BD-12AA-2702-3181-604C59888D9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CC1596B-2F9B-D588-E258-EEB854107E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E3C0EE9-6F3F-4918-95EF-C06486F81C5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15A6646-E6C6-2DB1-E50B-476518FABB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2182DEF-4204-E13C-308F-A28AFC36781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FA017D3-EE03-C38F-0653-5DDFA558B2CB}"/>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8" name="フッター プレースホルダー 7">
            <a:extLst>
              <a:ext uri="{FF2B5EF4-FFF2-40B4-BE49-F238E27FC236}">
                <a16:creationId xmlns:a16="http://schemas.microsoft.com/office/drawing/2014/main" id="{B645E0AB-44E5-1D67-F36E-1E170E259F0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B2E9DFF-41CB-C79E-E0FD-DFDC35A3790B}"/>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1547336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7A1681-9C45-0E02-E74E-CC48E3B3EB7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09FEE43-B245-20C0-97FC-697590D6AE8F}"/>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4" name="フッター プレースホルダー 3">
            <a:extLst>
              <a:ext uri="{FF2B5EF4-FFF2-40B4-BE49-F238E27FC236}">
                <a16:creationId xmlns:a16="http://schemas.microsoft.com/office/drawing/2014/main" id="{30736B11-D237-194F-F772-0B665DD787B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B502549-B043-18F8-2979-407839D11B0C}"/>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50110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E71BAFA-B1E1-9841-4FA7-06E05EEFCEE3}"/>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3" name="フッター プレースホルダー 2">
            <a:extLst>
              <a:ext uri="{FF2B5EF4-FFF2-40B4-BE49-F238E27FC236}">
                <a16:creationId xmlns:a16="http://schemas.microsoft.com/office/drawing/2014/main" id="{9087BB16-4468-C70F-EAE7-2CB49E60456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68F8E45-4258-19AC-6EEB-A36799B91DDC}"/>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20569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0D3EA6-FD98-3877-8156-CFB3C6165B3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AE84C40-AF7F-3295-456B-7CBA8B5389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E9D382E-72EA-A153-0481-B6FD41EA4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674B526-DDFA-897A-7F3B-FB2865D23D7A}"/>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6" name="フッター プレースホルダー 5">
            <a:extLst>
              <a:ext uri="{FF2B5EF4-FFF2-40B4-BE49-F238E27FC236}">
                <a16:creationId xmlns:a16="http://schemas.microsoft.com/office/drawing/2014/main" id="{DD0DD32F-74F0-2C3C-F5FE-FF4635746FD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D436CFD-C163-6ED4-1FBF-66D2A75D8DCA}"/>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412472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656812-F2E5-8A61-E6E7-C84390C9141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4392775-25B7-B8B1-8F09-438095C74F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0C3F951-E8C7-12BC-FC3E-B74ADD9425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83423CD-2DF3-B482-F0B4-2AA46F779D35}"/>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6" name="フッター プレースホルダー 5">
            <a:extLst>
              <a:ext uri="{FF2B5EF4-FFF2-40B4-BE49-F238E27FC236}">
                <a16:creationId xmlns:a16="http://schemas.microsoft.com/office/drawing/2014/main" id="{FACA72CD-7083-87CB-8F31-C4063B07CD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CE10E6C-BC13-6087-2811-E1B745CFBA27}"/>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3436588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D73654-8153-46BF-919F-D493CFE2243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4F79FC-FE8E-7575-2871-DE9882189AD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ECBFD1-73DB-E63D-85F6-9E7FB6105229}"/>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E5123400-5EF5-EEA8-A69C-A67F6E51144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4DD3CE-2186-58EF-CFB2-4EC7AA14A696}"/>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2716374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741ED77-10DA-18F7-9AAC-6CB52AADB93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104CE72-8F54-2BDA-1FC1-6DB862F3089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23B1DF3-87C4-0D26-F78F-5194BBA7F703}"/>
              </a:ext>
            </a:extLst>
          </p:cNvPr>
          <p:cNvSpPr>
            <a:spLocks noGrp="1"/>
          </p:cNvSpPr>
          <p:nvPr>
            <p:ph type="dt" sz="half" idx="10"/>
          </p:nvPr>
        </p:nvSpPr>
        <p:spPr/>
        <p:txBody>
          <a:bodyPr/>
          <a:lstStyle/>
          <a:p>
            <a:fld id="{F2FEFAF6-BFBA-484F-A347-DD539635B3C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D28D9503-9C26-8C96-31C9-B9EEDA773C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CBBA0B-6B49-5F08-0198-5B0719906490}"/>
              </a:ext>
            </a:extLst>
          </p:cNvPr>
          <p:cNvSpPr>
            <a:spLocks noGrp="1"/>
          </p:cNvSpPr>
          <p:nvPr>
            <p:ph type="sldNum" sz="quarter" idx="12"/>
          </p:nvPr>
        </p:nvSpPr>
        <p:spPr/>
        <p:txBody>
          <a:body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408279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617F9CD-01E6-DF47-198F-9E746B994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6F1608-D60F-BF88-FB8E-C7710D03F4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B6861B5-BE37-4ED0-382A-DC581AF0C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EFAF6-BFBA-484F-A347-DD539635B3C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BEF80A78-655B-3093-8DE4-7843F16A20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C3C888F-57C8-8A8C-151D-BC7C574A3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EBC4AD-035E-455C-A7FD-E480DD5ACC5C}" type="slidenum">
              <a:rPr kumimoji="1" lang="ja-JP" altLang="en-US" smtClean="0"/>
              <a:t>‹#›</a:t>
            </a:fld>
            <a:endParaRPr kumimoji="1" lang="ja-JP" altLang="en-US"/>
          </a:p>
        </p:txBody>
      </p:sp>
    </p:spTree>
    <p:extLst>
      <p:ext uri="{BB962C8B-B14F-4D97-AF65-F5344CB8AC3E}">
        <p14:creationId xmlns:p14="http://schemas.microsoft.com/office/powerpoint/2010/main" val="278966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8A297C-B9E2-C663-3F37-7E8663338CBB}"/>
              </a:ext>
            </a:extLst>
          </p:cNvPr>
          <p:cNvSpPr>
            <a:spLocks noGrp="1"/>
          </p:cNvSpPr>
          <p:nvPr>
            <p:ph type="ctrTitle"/>
          </p:nvPr>
        </p:nvSpPr>
        <p:spPr>
          <a:xfrm>
            <a:off x="1524000" y="1938337"/>
            <a:ext cx="9144000" cy="2471737"/>
          </a:xfrm>
        </p:spPr>
        <p:txBody>
          <a:bodyPr/>
          <a:lstStyle/>
          <a:p>
            <a:pPr>
              <a:lnSpc>
                <a:spcPct val="150000"/>
              </a:lnSpc>
            </a:pPr>
            <a:r>
              <a:rPr lang="ja-JP" altLang="en-US" dirty="0">
                <a:latin typeface="游ゴシック" panose="020B0400000000000000" pitchFamily="50" charset="-128"/>
                <a:ea typeface="游ゴシック" panose="020B0400000000000000" pitchFamily="50" charset="-128"/>
              </a:rPr>
              <a:t>蔵書管理システム</a:t>
            </a:r>
            <a:br>
              <a:rPr lang="en-US" altLang="ja-JP" dirty="0">
                <a:latin typeface="+mn-lt"/>
              </a:rPr>
            </a:br>
            <a:r>
              <a:rPr lang="zh-TW" altLang="en-US" sz="4000" dirty="0">
                <a:latin typeface="游ゴシック" panose="020B0400000000000000" pitchFamily="50" charset="-128"/>
                <a:ea typeface="游ゴシック" panose="020B0400000000000000" pitchFamily="50" charset="-128"/>
              </a:rPr>
              <a:t>総合演習 発表</a:t>
            </a:r>
            <a:endParaRPr kumimoji="1" lang="ja-JP" altLang="en-US" sz="4000" dirty="0">
              <a:latin typeface="游ゴシック" panose="020B0400000000000000" pitchFamily="50" charset="-128"/>
              <a:ea typeface="游ゴシック" panose="020B0400000000000000" pitchFamily="50" charset="-128"/>
            </a:endParaRPr>
          </a:p>
        </p:txBody>
      </p:sp>
      <p:sp>
        <p:nvSpPr>
          <p:cNvPr id="6" name="フッター プレースホルダー 5">
            <a:extLst>
              <a:ext uri="{FF2B5EF4-FFF2-40B4-BE49-F238E27FC236}">
                <a16:creationId xmlns:a16="http://schemas.microsoft.com/office/drawing/2014/main" id="{93C90E47-6256-4804-BFF9-25BDDC54097D}"/>
              </a:ext>
            </a:extLst>
          </p:cNvPr>
          <p:cNvSpPr>
            <a:spLocks noGrp="1"/>
          </p:cNvSpPr>
          <p:nvPr>
            <p:ph type="ftr" sz="quarter" idx="11"/>
          </p:nvPr>
        </p:nvSpPr>
        <p:spPr>
          <a:xfrm>
            <a:off x="5276850" y="5743575"/>
            <a:ext cx="8058150" cy="877887"/>
          </a:xfrm>
        </p:spPr>
        <p:txBody>
          <a:bodyPr/>
          <a:lstStyle/>
          <a:p>
            <a:r>
              <a:rPr kumimoji="1" lang="ja-JP" altLang="en-US" sz="2400" dirty="0">
                <a:solidFill>
                  <a:schemeClr val="tx1"/>
                </a:solidFill>
              </a:rPr>
              <a:t>株式会社マプコン 中澤 拓也</a:t>
            </a:r>
          </a:p>
        </p:txBody>
      </p:sp>
    </p:spTree>
    <p:extLst>
      <p:ext uri="{BB962C8B-B14F-4D97-AF65-F5344CB8AC3E}">
        <p14:creationId xmlns:p14="http://schemas.microsoft.com/office/powerpoint/2010/main" val="3337475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B3FB46-9CCC-42B3-AF0C-C4A0671492D4}"/>
              </a:ext>
            </a:extLst>
          </p:cNvPr>
          <p:cNvSpPr>
            <a:spLocks noGrp="1"/>
          </p:cNvSpPr>
          <p:nvPr>
            <p:ph type="title"/>
          </p:nvPr>
        </p:nvSpPr>
        <p:spPr>
          <a:xfrm>
            <a:off x="838200" y="634066"/>
            <a:ext cx="10515600" cy="1325563"/>
          </a:xfrm>
        </p:spPr>
        <p:txBody>
          <a:bodyPr/>
          <a:lstStyle/>
          <a:p>
            <a:r>
              <a:rPr lang="ja-JP" altLang="en-US" dirty="0"/>
              <a:t>目次</a:t>
            </a:r>
            <a:endParaRPr kumimoji="1" lang="ja-JP" altLang="en-US" dirty="0"/>
          </a:p>
        </p:txBody>
      </p:sp>
      <p:sp>
        <p:nvSpPr>
          <p:cNvPr id="3" name="コンテンツ プレースホルダー 2">
            <a:extLst>
              <a:ext uri="{FF2B5EF4-FFF2-40B4-BE49-F238E27FC236}">
                <a16:creationId xmlns:a16="http://schemas.microsoft.com/office/drawing/2014/main" id="{F6837288-2E7C-4CEF-BD65-A23C857B085C}"/>
              </a:ext>
            </a:extLst>
          </p:cNvPr>
          <p:cNvSpPr>
            <a:spLocks noGrp="1"/>
          </p:cNvSpPr>
          <p:nvPr>
            <p:ph idx="1"/>
          </p:nvPr>
        </p:nvSpPr>
        <p:spPr>
          <a:xfrm>
            <a:off x="838200" y="2355849"/>
            <a:ext cx="4762500" cy="3517900"/>
          </a:xfrm>
        </p:spPr>
        <p:txBody>
          <a:bodyPr>
            <a:normAutofit fontScale="92500" lnSpcReduction="10000"/>
          </a:bodyPr>
          <a:lstStyle/>
          <a:p>
            <a:pPr marL="514350" indent="-514350">
              <a:lnSpc>
                <a:spcPct val="150000"/>
              </a:lnSpc>
              <a:buFont typeface="+mj-lt"/>
              <a:buAutoNum type="arabicPeriod"/>
            </a:pPr>
            <a:r>
              <a:rPr lang="ja-JP" altLang="en-US" dirty="0"/>
              <a:t>システム概要・主要機能</a:t>
            </a:r>
            <a:endParaRPr lang="en-US" altLang="ja-JP" dirty="0"/>
          </a:p>
          <a:p>
            <a:pPr marL="514350" indent="-514350">
              <a:lnSpc>
                <a:spcPct val="150000"/>
              </a:lnSpc>
              <a:buFont typeface="+mj-lt"/>
              <a:buAutoNum type="arabicPeriod"/>
            </a:pPr>
            <a:r>
              <a:rPr lang="ja-JP" altLang="en-US" dirty="0"/>
              <a:t>開発目的</a:t>
            </a:r>
            <a:endParaRPr lang="en-US" altLang="ja-JP" dirty="0"/>
          </a:p>
          <a:p>
            <a:pPr marL="514350" indent="-514350">
              <a:lnSpc>
                <a:spcPct val="150000"/>
              </a:lnSpc>
              <a:buFont typeface="+mj-lt"/>
              <a:buAutoNum type="arabicPeriod"/>
            </a:pPr>
            <a:r>
              <a:rPr lang="ja-JP" altLang="en-US" dirty="0"/>
              <a:t>アプリケーション構成</a:t>
            </a:r>
            <a:endParaRPr lang="en-US" altLang="ja-JP" dirty="0"/>
          </a:p>
          <a:p>
            <a:pPr marL="514350" indent="-514350">
              <a:lnSpc>
                <a:spcPct val="150000"/>
              </a:lnSpc>
              <a:buFont typeface="+mj-lt"/>
              <a:buAutoNum type="arabicPeriod"/>
            </a:pPr>
            <a:r>
              <a:rPr lang="ja-JP" altLang="en-US" dirty="0"/>
              <a:t>使用技術</a:t>
            </a:r>
            <a:endParaRPr lang="en-US" altLang="ja-JP" dirty="0"/>
          </a:p>
          <a:p>
            <a:pPr marL="514350" indent="-514350">
              <a:lnSpc>
                <a:spcPct val="150000"/>
              </a:lnSpc>
              <a:buFont typeface="+mj-lt"/>
              <a:buAutoNum type="arabicPeriod"/>
            </a:pPr>
            <a:r>
              <a:rPr lang="ja-JP" altLang="en-US" dirty="0"/>
              <a:t>デモンストレーション</a:t>
            </a:r>
            <a:endParaRPr lang="en-US" altLang="zh-TW" dirty="0"/>
          </a:p>
          <a:p>
            <a:pPr marL="514350" indent="-514350">
              <a:lnSpc>
                <a:spcPct val="150000"/>
              </a:lnSpc>
              <a:buFont typeface="+mj-lt"/>
              <a:buAutoNum type="arabicPeriod"/>
            </a:pPr>
            <a:endParaRPr lang="en-US" altLang="ja-JP" dirty="0"/>
          </a:p>
          <a:p>
            <a:pPr marL="514350" indent="-514350">
              <a:buFont typeface="+mj-lt"/>
              <a:buAutoNum type="arabicPeriod"/>
            </a:pPr>
            <a:endParaRPr lang="en-US" altLang="ja-JP" dirty="0"/>
          </a:p>
          <a:p>
            <a:pPr marL="514350" indent="-514350">
              <a:buFont typeface="+mj-lt"/>
              <a:buAutoNum type="arabicPeriod"/>
            </a:pPr>
            <a:endParaRPr lang="en-US" altLang="ja-JP" dirty="0"/>
          </a:p>
          <a:p>
            <a:pPr marL="514350" indent="-514350">
              <a:buFont typeface="+mj-lt"/>
              <a:buAutoNum type="arabicPeriod"/>
            </a:pPr>
            <a:endParaRPr kumimoji="1" lang="ja-JP" altLang="en-US" dirty="0"/>
          </a:p>
        </p:txBody>
      </p:sp>
      <p:sp>
        <p:nvSpPr>
          <p:cNvPr id="4" name="コンテンツ プレースホルダー 2">
            <a:extLst>
              <a:ext uri="{FF2B5EF4-FFF2-40B4-BE49-F238E27FC236}">
                <a16:creationId xmlns:a16="http://schemas.microsoft.com/office/drawing/2014/main" id="{9D65F6C5-BA24-4A9D-86C5-3B5E8400012E}"/>
              </a:ext>
            </a:extLst>
          </p:cNvPr>
          <p:cNvSpPr txBox="1">
            <a:spLocks/>
          </p:cNvSpPr>
          <p:nvPr/>
        </p:nvSpPr>
        <p:spPr>
          <a:xfrm>
            <a:off x="6424614" y="2376487"/>
            <a:ext cx="4605336" cy="35179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50000"/>
              </a:lnSpc>
              <a:buFont typeface="+mj-lt"/>
              <a:buAutoNum type="arabicPeriod" startAt="5"/>
            </a:pPr>
            <a:r>
              <a:rPr lang="ja-JP" altLang="en-US" dirty="0"/>
              <a:t>総合演習の所感</a:t>
            </a:r>
            <a:endParaRPr lang="en-US" altLang="ja-JP" dirty="0"/>
          </a:p>
          <a:p>
            <a:pPr marL="514350" indent="-514350">
              <a:lnSpc>
                <a:spcPct val="150000"/>
              </a:lnSpc>
              <a:buFont typeface="+mj-lt"/>
              <a:buAutoNum type="arabicPeriod" startAt="5"/>
            </a:pPr>
            <a:r>
              <a:rPr lang="ja-JP" altLang="en-US" dirty="0"/>
              <a:t>研修全体の所感</a:t>
            </a:r>
            <a:endParaRPr lang="en-US" altLang="ja-JP" dirty="0"/>
          </a:p>
          <a:p>
            <a:pPr marL="514350" indent="-514350">
              <a:lnSpc>
                <a:spcPct val="150000"/>
              </a:lnSpc>
              <a:buFont typeface="+mj-lt"/>
              <a:buAutoNum type="arabicPeriod" startAt="5"/>
            </a:pPr>
            <a:r>
              <a:rPr lang="ja-JP" altLang="en-US" dirty="0"/>
              <a:t>まとめ</a:t>
            </a:r>
            <a:endParaRPr lang="en-US" altLang="ja-JP" dirty="0"/>
          </a:p>
          <a:p>
            <a:pPr marL="514350" indent="-514350">
              <a:lnSpc>
                <a:spcPct val="150000"/>
              </a:lnSpc>
              <a:buFont typeface="+mj-lt"/>
              <a:buAutoNum type="arabicPeriod" startAt="5"/>
            </a:pPr>
            <a:r>
              <a:rPr lang="ja-JP" altLang="en-US" dirty="0"/>
              <a:t>質疑応答</a:t>
            </a:r>
            <a:endParaRPr lang="en-US" altLang="ja-JP" dirty="0"/>
          </a:p>
          <a:p>
            <a:pPr marL="514350" indent="-514350">
              <a:lnSpc>
                <a:spcPct val="150000"/>
              </a:lnSpc>
              <a:buFont typeface="+mj-lt"/>
              <a:buAutoNum type="arabicPeriod" startAt="5"/>
            </a:pPr>
            <a:endParaRPr lang="en-US" altLang="ja-JP" dirty="0"/>
          </a:p>
          <a:p>
            <a:pPr marL="514350" indent="-514350">
              <a:buFont typeface="+mj-lt"/>
              <a:buAutoNum type="arabicPeriod" startAt="5"/>
            </a:pPr>
            <a:endParaRPr lang="en-US" altLang="ja-JP" dirty="0"/>
          </a:p>
          <a:p>
            <a:pPr marL="514350" indent="-514350">
              <a:buFont typeface="+mj-lt"/>
              <a:buAutoNum type="arabicPeriod" startAt="5"/>
            </a:pPr>
            <a:endParaRPr lang="en-US" altLang="ja-JP" dirty="0"/>
          </a:p>
          <a:p>
            <a:pPr marL="514350" indent="-514350">
              <a:buFont typeface="+mj-lt"/>
              <a:buAutoNum type="arabicPeriod" startAt="5"/>
            </a:pPr>
            <a:endParaRPr lang="en-US" altLang="ja-JP" dirty="0"/>
          </a:p>
          <a:p>
            <a:pPr marL="514350" indent="-514350">
              <a:buFont typeface="+mj-lt"/>
              <a:buAutoNum type="arabicPeriod" startAt="5"/>
            </a:pPr>
            <a:endParaRPr lang="ja-JP" altLang="en-US" dirty="0"/>
          </a:p>
        </p:txBody>
      </p:sp>
    </p:spTree>
    <p:extLst>
      <p:ext uri="{BB962C8B-B14F-4D97-AF65-F5344CB8AC3E}">
        <p14:creationId xmlns:p14="http://schemas.microsoft.com/office/powerpoint/2010/main" val="3317073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t>システム概要・主要機能</a:t>
            </a:r>
            <a:endParaRPr kumimoji="1" lang="ja-JP" altLang="en-US" dirty="0"/>
          </a:p>
        </p:txBody>
      </p:sp>
      <p:sp>
        <p:nvSpPr>
          <p:cNvPr id="3" name="コンテンツ プレースホルダー 2">
            <a:extLst>
              <a:ext uri="{FF2B5EF4-FFF2-40B4-BE49-F238E27FC236}">
                <a16:creationId xmlns:a16="http://schemas.microsoft.com/office/drawing/2014/main" id="{E89FE1EB-09A4-4B24-AA9B-41856D02A1AB}"/>
              </a:ext>
            </a:extLst>
          </p:cNvPr>
          <p:cNvSpPr>
            <a:spLocks noGrp="1"/>
          </p:cNvSpPr>
          <p:nvPr>
            <p:ph idx="1"/>
          </p:nvPr>
        </p:nvSpPr>
        <p:spPr>
          <a:xfrm>
            <a:off x="838200" y="1481136"/>
            <a:ext cx="4862513" cy="4775200"/>
          </a:xfrm>
        </p:spPr>
        <p:txBody>
          <a:bodyPr/>
          <a:lstStyle/>
          <a:p>
            <a:pPr marL="0" indent="0">
              <a:buNone/>
            </a:pPr>
            <a:r>
              <a:rPr lang="en-US" altLang="ja-JP" dirty="0"/>
              <a:t>【</a:t>
            </a:r>
            <a:r>
              <a:rPr lang="ja-JP" altLang="en-US" dirty="0"/>
              <a:t>システム概要</a:t>
            </a:r>
            <a:r>
              <a:rPr lang="en-US" altLang="ja-JP" dirty="0"/>
              <a:t>】</a:t>
            </a:r>
          </a:p>
          <a:p>
            <a:pPr marL="0" indent="0">
              <a:lnSpc>
                <a:spcPct val="150000"/>
              </a:lnSpc>
              <a:buNone/>
            </a:pPr>
            <a:r>
              <a:rPr lang="ja-JP" altLang="en-US" sz="2000" dirty="0"/>
              <a:t>蔵書の貸出・返却状況管理 </a:t>
            </a:r>
            <a:endParaRPr lang="en-US" altLang="ja-JP" sz="2000" dirty="0"/>
          </a:p>
          <a:p>
            <a:pPr marL="0" indent="0">
              <a:buNone/>
            </a:pPr>
            <a:r>
              <a:rPr lang="en-US" altLang="ja-JP" sz="2000" dirty="0"/>
              <a:t>Web</a:t>
            </a:r>
            <a:r>
              <a:rPr lang="ja-JP" altLang="en-US" sz="2000" dirty="0"/>
              <a:t>アプリケーション</a:t>
            </a:r>
            <a:endParaRPr lang="en-US" altLang="ja-JP" sz="2000" dirty="0"/>
          </a:p>
          <a:p>
            <a:pPr marL="0" indent="0">
              <a:lnSpc>
                <a:spcPct val="150000"/>
              </a:lnSpc>
              <a:buNone/>
            </a:pPr>
            <a:r>
              <a:rPr kumimoji="1" lang="en-US" altLang="ja-JP" dirty="0"/>
              <a:t>【</a:t>
            </a:r>
            <a:r>
              <a:rPr kumimoji="1" lang="ja-JP" altLang="en-US" dirty="0"/>
              <a:t>主要機能</a:t>
            </a:r>
            <a:r>
              <a:rPr kumimoji="1" lang="en-US" altLang="ja-JP" dirty="0"/>
              <a:t>】</a:t>
            </a:r>
            <a:endParaRPr lang="en-US" altLang="ja-JP" sz="1800" dirty="0"/>
          </a:p>
          <a:p>
            <a:pPr>
              <a:lnSpc>
                <a:spcPct val="150000"/>
              </a:lnSpc>
            </a:pPr>
            <a:endParaRPr kumimoji="1" lang="ja-JP" altLang="en-US" sz="1800" dirty="0"/>
          </a:p>
        </p:txBody>
      </p:sp>
      <p:sp>
        <p:nvSpPr>
          <p:cNvPr id="6" name="コンテンツ プレースホルダー 2">
            <a:extLst>
              <a:ext uri="{FF2B5EF4-FFF2-40B4-BE49-F238E27FC236}">
                <a16:creationId xmlns:a16="http://schemas.microsoft.com/office/drawing/2014/main" id="{FFC73E9E-1C02-4DBD-B8EF-D45ACEE8DC81}"/>
              </a:ext>
            </a:extLst>
          </p:cNvPr>
          <p:cNvSpPr txBox="1">
            <a:spLocks/>
          </p:cNvSpPr>
          <p:nvPr/>
        </p:nvSpPr>
        <p:spPr>
          <a:xfrm>
            <a:off x="539643" y="3717080"/>
            <a:ext cx="2505076" cy="259715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50000"/>
              </a:lnSpc>
            </a:pPr>
            <a:r>
              <a:rPr lang="ja-JP" altLang="en-US" sz="2200" dirty="0"/>
              <a:t>ログイン機能</a:t>
            </a:r>
            <a:r>
              <a:rPr lang="en-US" altLang="ja-JP" sz="2200" dirty="0"/>
              <a:t>	</a:t>
            </a:r>
          </a:p>
          <a:p>
            <a:pPr>
              <a:lnSpc>
                <a:spcPct val="150000"/>
              </a:lnSpc>
            </a:pPr>
            <a:r>
              <a:rPr lang="ja-JP" altLang="en-US" sz="2200" dirty="0"/>
              <a:t>蔵書新規追加</a:t>
            </a:r>
            <a:endParaRPr lang="en-US" altLang="ja-JP" sz="2200" dirty="0"/>
          </a:p>
          <a:p>
            <a:pPr>
              <a:lnSpc>
                <a:spcPct val="150000"/>
              </a:lnSpc>
            </a:pPr>
            <a:r>
              <a:rPr lang="ja-JP" altLang="en-US" sz="2200" dirty="0"/>
              <a:t>蔵書一覧表示</a:t>
            </a:r>
            <a:endParaRPr lang="en-US" altLang="ja-JP" sz="2200" dirty="0"/>
          </a:p>
          <a:p>
            <a:pPr>
              <a:lnSpc>
                <a:spcPct val="150000"/>
              </a:lnSpc>
            </a:pPr>
            <a:r>
              <a:rPr lang="ja-JP" altLang="en-US" sz="2200" dirty="0"/>
              <a:t>蔵書詳細表示</a:t>
            </a:r>
            <a:endParaRPr lang="en-US" altLang="ja-JP" sz="2200" dirty="0"/>
          </a:p>
          <a:p>
            <a:pPr>
              <a:lnSpc>
                <a:spcPct val="150000"/>
              </a:lnSpc>
            </a:pPr>
            <a:r>
              <a:rPr lang="ja-JP" altLang="en-US" sz="2200" dirty="0"/>
              <a:t>貸出履歴確認</a:t>
            </a:r>
            <a:endParaRPr lang="en-US" altLang="ja-JP" sz="2200" dirty="0"/>
          </a:p>
          <a:p>
            <a:pPr>
              <a:lnSpc>
                <a:spcPct val="150000"/>
              </a:lnSpc>
            </a:pPr>
            <a:endParaRPr lang="en-US" altLang="ja-JP" sz="1800" dirty="0"/>
          </a:p>
          <a:p>
            <a:pPr>
              <a:lnSpc>
                <a:spcPct val="150000"/>
              </a:lnSpc>
            </a:pPr>
            <a:endParaRPr lang="ja-JP" altLang="en-US" sz="1800" dirty="0"/>
          </a:p>
        </p:txBody>
      </p:sp>
      <p:sp>
        <p:nvSpPr>
          <p:cNvPr id="7" name="コンテンツ プレースホルダー 2">
            <a:extLst>
              <a:ext uri="{FF2B5EF4-FFF2-40B4-BE49-F238E27FC236}">
                <a16:creationId xmlns:a16="http://schemas.microsoft.com/office/drawing/2014/main" id="{5CC0841E-9FC2-4AE2-9936-F77822181163}"/>
              </a:ext>
            </a:extLst>
          </p:cNvPr>
          <p:cNvSpPr txBox="1">
            <a:spLocks/>
          </p:cNvSpPr>
          <p:nvPr/>
        </p:nvSpPr>
        <p:spPr>
          <a:xfrm>
            <a:off x="2533089" y="3704842"/>
            <a:ext cx="2505076" cy="2301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50000"/>
              </a:lnSpc>
            </a:pPr>
            <a:r>
              <a:rPr lang="ja-JP" altLang="en-US" sz="2000" dirty="0"/>
              <a:t>蔵書削除機能</a:t>
            </a:r>
            <a:endParaRPr lang="en-US" altLang="ja-JP" sz="2000" dirty="0"/>
          </a:p>
          <a:p>
            <a:pPr>
              <a:lnSpc>
                <a:spcPct val="150000"/>
              </a:lnSpc>
            </a:pPr>
            <a:r>
              <a:rPr lang="ja-JP" altLang="en-US" sz="2000" dirty="0"/>
              <a:t>キーワード検索</a:t>
            </a:r>
            <a:endParaRPr lang="en-US" altLang="ja-JP" sz="2000" dirty="0"/>
          </a:p>
          <a:p>
            <a:pPr>
              <a:lnSpc>
                <a:spcPct val="150000"/>
              </a:lnSpc>
            </a:pPr>
            <a:r>
              <a:rPr lang="ja-JP" altLang="en-US" sz="2000" dirty="0"/>
              <a:t>貸出処理</a:t>
            </a:r>
            <a:endParaRPr lang="en-US" altLang="ja-JP" sz="2000" dirty="0"/>
          </a:p>
          <a:p>
            <a:pPr>
              <a:lnSpc>
                <a:spcPct val="150000"/>
              </a:lnSpc>
            </a:pPr>
            <a:r>
              <a:rPr lang="ja-JP" altLang="en-US" sz="2000" dirty="0"/>
              <a:t>返却処理</a:t>
            </a:r>
            <a:endParaRPr lang="en-US" altLang="ja-JP" sz="2000" dirty="0"/>
          </a:p>
          <a:p>
            <a:pPr>
              <a:lnSpc>
                <a:spcPct val="150000"/>
              </a:lnSpc>
            </a:pPr>
            <a:endParaRPr lang="en-US" altLang="ja-JP" sz="1800" dirty="0"/>
          </a:p>
          <a:p>
            <a:pPr>
              <a:lnSpc>
                <a:spcPct val="150000"/>
              </a:lnSpc>
            </a:pPr>
            <a:endParaRPr lang="en-US" altLang="ja-JP" sz="1800" dirty="0"/>
          </a:p>
          <a:p>
            <a:pPr marL="0" indent="0">
              <a:lnSpc>
                <a:spcPct val="150000"/>
              </a:lnSpc>
              <a:buNone/>
            </a:pPr>
            <a:endParaRPr lang="en-US" altLang="ja-JP" sz="1800" dirty="0"/>
          </a:p>
          <a:p>
            <a:pPr>
              <a:lnSpc>
                <a:spcPct val="150000"/>
              </a:lnSpc>
            </a:pPr>
            <a:endParaRPr lang="en-US" altLang="ja-JP" sz="1800" dirty="0"/>
          </a:p>
          <a:p>
            <a:pPr>
              <a:lnSpc>
                <a:spcPct val="150000"/>
              </a:lnSpc>
            </a:pPr>
            <a:endParaRPr lang="ja-JP" altLang="en-US" sz="1800" dirty="0"/>
          </a:p>
        </p:txBody>
      </p:sp>
      <p:pic>
        <p:nvPicPr>
          <p:cNvPr id="11" name="図 10">
            <a:extLst>
              <a:ext uri="{FF2B5EF4-FFF2-40B4-BE49-F238E27FC236}">
                <a16:creationId xmlns:a16="http://schemas.microsoft.com/office/drawing/2014/main" id="{19324375-4E66-4908-9A37-B81AABFD50D8}"/>
              </a:ext>
            </a:extLst>
          </p:cNvPr>
          <p:cNvPicPr>
            <a:picLocks noChangeAspect="1"/>
          </p:cNvPicPr>
          <p:nvPr/>
        </p:nvPicPr>
        <p:blipFill>
          <a:blip r:embed="rId3"/>
          <a:stretch>
            <a:fillRect/>
          </a:stretch>
        </p:blipFill>
        <p:spPr>
          <a:xfrm>
            <a:off x="5038165" y="1690688"/>
            <a:ext cx="6614192" cy="4537818"/>
          </a:xfrm>
          <a:prstGeom prst="rect">
            <a:avLst/>
          </a:prstGeom>
        </p:spPr>
      </p:pic>
    </p:spTree>
    <p:extLst>
      <p:ext uri="{BB962C8B-B14F-4D97-AF65-F5344CB8AC3E}">
        <p14:creationId xmlns:p14="http://schemas.microsoft.com/office/powerpoint/2010/main" val="55501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t>開発目的</a:t>
            </a:r>
            <a:endParaRPr kumimoji="1" lang="ja-JP" altLang="en-US" dirty="0"/>
          </a:p>
        </p:txBody>
      </p:sp>
      <p:sp>
        <p:nvSpPr>
          <p:cNvPr id="3" name="コンテンツ プレースホルダー 2">
            <a:extLst>
              <a:ext uri="{FF2B5EF4-FFF2-40B4-BE49-F238E27FC236}">
                <a16:creationId xmlns:a16="http://schemas.microsoft.com/office/drawing/2014/main" id="{E89FE1EB-09A4-4B24-AA9B-41856D02A1AB}"/>
              </a:ext>
            </a:extLst>
          </p:cNvPr>
          <p:cNvSpPr>
            <a:spLocks noGrp="1"/>
          </p:cNvSpPr>
          <p:nvPr>
            <p:ph idx="1"/>
          </p:nvPr>
        </p:nvSpPr>
        <p:spPr>
          <a:xfrm>
            <a:off x="838200" y="1565182"/>
            <a:ext cx="10515600" cy="4927693"/>
          </a:xfrm>
        </p:spPr>
        <p:txBody>
          <a:bodyPr>
            <a:normAutofit/>
          </a:bodyPr>
          <a:lstStyle/>
          <a:p>
            <a:pPr marL="0" indent="0">
              <a:buNone/>
            </a:pPr>
            <a:r>
              <a:rPr kumimoji="1" lang="en-US" altLang="ja-JP" dirty="0"/>
              <a:t>【</a:t>
            </a:r>
            <a:r>
              <a:rPr kumimoji="1" lang="ja-JP" altLang="en-US" dirty="0"/>
              <a:t>業務面</a:t>
            </a:r>
            <a:r>
              <a:rPr kumimoji="1" lang="en-US" altLang="ja-JP" dirty="0"/>
              <a:t>】</a:t>
            </a:r>
          </a:p>
          <a:p>
            <a:pPr>
              <a:lnSpc>
                <a:spcPct val="150000"/>
              </a:lnSpc>
            </a:pPr>
            <a:r>
              <a:rPr lang="ja-JP" altLang="en-US" sz="2000" dirty="0"/>
              <a:t>蔵書の貸出・返却状況を一元管理</a:t>
            </a:r>
            <a:endParaRPr lang="en-US" altLang="ja-JP" sz="2000" dirty="0"/>
          </a:p>
          <a:p>
            <a:pPr>
              <a:lnSpc>
                <a:spcPct val="150000"/>
              </a:lnSpc>
            </a:pPr>
            <a:r>
              <a:rPr lang="ja-JP" altLang="en-US" sz="2000" dirty="0"/>
              <a:t>貸出中の蔵書や貸出履歴を簡単に確認できるようにする</a:t>
            </a:r>
            <a:endParaRPr lang="en-US" altLang="ja-JP" sz="2000" dirty="0"/>
          </a:p>
          <a:p>
            <a:pPr>
              <a:lnSpc>
                <a:spcPct val="150000"/>
              </a:lnSpc>
            </a:pPr>
            <a:r>
              <a:rPr lang="ja-JP" altLang="en-US" sz="2000" dirty="0"/>
              <a:t>手作業による管理ミスを防止</a:t>
            </a:r>
            <a:endParaRPr lang="en-US" altLang="ja-JP" dirty="0"/>
          </a:p>
          <a:p>
            <a:pPr marL="0" indent="0">
              <a:lnSpc>
                <a:spcPct val="150000"/>
              </a:lnSpc>
              <a:buNone/>
            </a:pPr>
            <a:r>
              <a:rPr lang="en-US" altLang="ja-JP" dirty="0"/>
              <a:t>【</a:t>
            </a:r>
            <a:r>
              <a:rPr lang="ja-JP" altLang="en-US" dirty="0"/>
              <a:t>学習面</a:t>
            </a:r>
            <a:r>
              <a:rPr lang="en-US" altLang="ja-JP" dirty="0"/>
              <a:t>】</a:t>
            </a:r>
          </a:p>
          <a:p>
            <a:pPr>
              <a:lnSpc>
                <a:spcPct val="150000"/>
              </a:lnSpc>
            </a:pPr>
            <a:r>
              <a:rPr lang="en-US" altLang="ja-JP" sz="2000" dirty="0"/>
              <a:t>Razor Pages</a:t>
            </a:r>
            <a:r>
              <a:rPr lang="ja-JP" altLang="en-US" sz="2000" dirty="0"/>
              <a:t>を用いた</a:t>
            </a:r>
            <a:r>
              <a:rPr lang="en-US" altLang="ja-JP" sz="2000" dirty="0"/>
              <a:t>Web</a:t>
            </a:r>
            <a:r>
              <a:rPr lang="ja-JP" altLang="en-US" sz="2000" dirty="0"/>
              <a:t>アプリケーション開発の実践</a:t>
            </a:r>
            <a:endParaRPr lang="en-US" altLang="ja-JP" sz="2000" dirty="0"/>
          </a:p>
          <a:p>
            <a:pPr>
              <a:lnSpc>
                <a:spcPct val="150000"/>
              </a:lnSpc>
            </a:pPr>
            <a:r>
              <a:rPr lang="en-US" altLang="ja-JP" sz="2000" dirty="0"/>
              <a:t>C#</a:t>
            </a:r>
            <a:r>
              <a:rPr lang="ja-JP" altLang="en-US" sz="2000" dirty="0"/>
              <a:t>、</a:t>
            </a:r>
            <a:r>
              <a:rPr lang="en-US" altLang="ja-JP" sz="2000" dirty="0"/>
              <a:t>SQL Server</a:t>
            </a:r>
            <a:r>
              <a:rPr lang="ja-JP" altLang="en-US" sz="2000" dirty="0"/>
              <a:t>、</a:t>
            </a:r>
            <a:r>
              <a:rPr lang="en-US" altLang="ja-JP" sz="2000" dirty="0"/>
              <a:t>ADO.NET</a:t>
            </a:r>
            <a:r>
              <a:rPr lang="ja-JP" altLang="en-US" sz="2000" dirty="0"/>
              <a:t>を利用したデータベース連携を学ぶ</a:t>
            </a:r>
            <a:endParaRPr lang="en-US" altLang="ja-JP" sz="2000" dirty="0"/>
          </a:p>
          <a:p>
            <a:pPr>
              <a:lnSpc>
                <a:spcPct val="150000"/>
              </a:lnSpc>
            </a:pPr>
            <a:r>
              <a:rPr lang="en-US" altLang="ja-JP" sz="2000" dirty="0"/>
              <a:t>CRUD</a:t>
            </a:r>
            <a:r>
              <a:rPr lang="ja-JP" altLang="en-US" sz="2000" dirty="0"/>
              <a:t>処理の実装を通して</a:t>
            </a:r>
            <a:r>
              <a:rPr lang="en-US" altLang="ja-JP" sz="2000" dirty="0"/>
              <a:t>Web</a:t>
            </a:r>
            <a:r>
              <a:rPr lang="ja-JP" altLang="en-US" sz="2000" dirty="0"/>
              <a:t>システム開発の流れの理解</a:t>
            </a:r>
            <a:endParaRPr lang="en-US" altLang="ja-JP" sz="2000" b="1" dirty="0"/>
          </a:p>
          <a:p>
            <a:pPr marL="0" indent="0">
              <a:buNone/>
            </a:pPr>
            <a:endParaRPr kumimoji="1" lang="ja-JP" altLang="en-US" dirty="0"/>
          </a:p>
        </p:txBody>
      </p:sp>
    </p:spTree>
    <p:extLst>
      <p:ext uri="{BB962C8B-B14F-4D97-AF65-F5344CB8AC3E}">
        <p14:creationId xmlns:p14="http://schemas.microsoft.com/office/powerpoint/2010/main" val="1419613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コンテンツ プレースホルダー 11">
            <a:extLst>
              <a:ext uri="{FF2B5EF4-FFF2-40B4-BE49-F238E27FC236}">
                <a16:creationId xmlns:a16="http://schemas.microsoft.com/office/drawing/2014/main" id="{B19DEFA5-4081-4E31-B4BB-0BCC2389EF16}"/>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22467" b="42696"/>
          <a:stretch/>
        </p:blipFill>
        <p:spPr>
          <a:xfrm>
            <a:off x="526676" y="3689279"/>
            <a:ext cx="11138648" cy="2129739"/>
          </a:xfrm>
        </p:spPr>
      </p:pic>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t>アプリケーション構成</a:t>
            </a:r>
            <a:endParaRPr kumimoji="1" lang="ja-JP" altLang="en-US" dirty="0"/>
          </a:p>
        </p:txBody>
      </p:sp>
      <p:sp>
        <p:nvSpPr>
          <p:cNvPr id="8" name="テキスト ボックス 7">
            <a:extLst>
              <a:ext uri="{FF2B5EF4-FFF2-40B4-BE49-F238E27FC236}">
                <a16:creationId xmlns:a16="http://schemas.microsoft.com/office/drawing/2014/main" id="{BAEEF3B5-A951-4E13-95F1-D93BDD5EDD3C}"/>
              </a:ext>
            </a:extLst>
          </p:cNvPr>
          <p:cNvSpPr txBox="1"/>
          <p:nvPr/>
        </p:nvSpPr>
        <p:spPr>
          <a:xfrm>
            <a:off x="838200" y="2067002"/>
            <a:ext cx="8143875" cy="1241815"/>
          </a:xfrm>
          <a:prstGeom prst="rect">
            <a:avLst/>
          </a:prstGeom>
          <a:noFill/>
        </p:spPr>
        <p:txBody>
          <a:bodyPr wrap="square" rtlCol="0">
            <a:spAutoFit/>
          </a:bodyPr>
          <a:lstStyle/>
          <a:p>
            <a:pPr>
              <a:lnSpc>
                <a:spcPct val="200000"/>
              </a:lnSpc>
            </a:pPr>
            <a:r>
              <a:rPr lang="ja-JP" altLang="en-US" sz="2000" dirty="0"/>
              <a:t>本システムは、</a:t>
            </a:r>
            <a:r>
              <a:rPr lang="en-US" altLang="ja-JP" sz="2000" dirty="0"/>
              <a:t>Razor Pages</a:t>
            </a:r>
            <a:r>
              <a:rPr lang="ja-JP" altLang="en-US" sz="2000" dirty="0"/>
              <a:t>を用いて開発しています。</a:t>
            </a:r>
            <a:br>
              <a:rPr lang="ja-JP" altLang="en-US" sz="2000" dirty="0"/>
            </a:br>
            <a:r>
              <a:rPr lang="ja-JP" altLang="en-US" sz="2000" dirty="0"/>
              <a:t>画面操作からデータベース更新までの流れを以下に示します。</a:t>
            </a:r>
            <a:endParaRPr kumimoji="1" lang="ja-JP" altLang="en-US" sz="2000" dirty="0"/>
          </a:p>
        </p:txBody>
      </p:sp>
    </p:spTree>
    <p:extLst>
      <p:ext uri="{BB962C8B-B14F-4D97-AF65-F5344CB8AC3E}">
        <p14:creationId xmlns:p14="http://schemas.microsoft.com/office/powerpoint/2010/main" val="137044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t>使用技術</a:t>
            </a:r>
            <a:endParaRPr kumimoji="1" lang="ja-JP" altLang="en-US" dirty="0"/>
          </a:p>
        </p:txBody>
      </p:sp>
      <p:sp>
        <p:nvSpPr>
          <p:cNvPr id="4" name="テキスト ボックス 3">
            <a:extLst>
              <a:ext uri="{FF2B5EF4-FFF2-40B4-BE49-F238E27FC236}">
                <a16:creationId xmlns:a16="http://schemas.microsoft.com/office/drawing/2014/main" id="{1EFB46BC-1D25-490F-BD4E-43CCE04958BC}"/>
              </a:ext>
            </a:extLst>
          </p:cNvPr>
          <p:cNvSpPr txBox="1"/>
          <p:nvPr/>
        </p:nvSpPr>
        <p:spPr>
          <a:xfrm>
            <a:off x="1009649" y="1919733"/>
            <a:ext cx="3390901" cy="1579471"/>
          </a:xfrm>
          <a:prstGeom prst="rect">
            <a:avLst/>
          </a:prstGeom>
          <a:noFill/>
        </p:spPr>
        <p:txBody>
          <a:bodyPr wrap="square" rtlCol="0">
            <a:spAutoFit/>
          </a:bodyPr>
          <a:lstStyle/>
          <a:p>
            <a:r>
              <a:rPr kumimoji="1" lang="en-US" altLang="ja-JP" sz="2800" dirty="0"/>
              <a:t>【</a:t>
            </a:r>
            <a:r>
              <a:rPr kumimoji="1" lang="ja-JP" altLang="en-US" sz="2800" dirty="0"/>
              <a:t>フロントエンド</a:t>
            </a:r>
            <a:r>
              <a:rPr kumimoji="1" lang="en-US" altLang="ja-JP" sz="2800" dirty="0"/>
              <a:t>】</a:t>
            </a:r>
          </a:p>
          <a:p>
            <a:pPr marL="285750" indent="-285750">
              <a:lnSpc>
                <a:spcPct val="150000"/>
              </a:lnSpc>
              <a:buFont typeface="Arial" panose="020B0604020202020204" pitchFamily="34" charset="0"/>
              <a:buChar char="•"/>
            </a:pPr>
            <a:r>
              <a:rPr lang="en-US" altLang="ja-JP" sz="2400" dirty="0"/>
              <a:t>HTML</a:t>
            </a:r>
          </a:p>
          <a:p>
            <a:pPr marL="285750" indent="-285750">
              <a:lnSpc>
                <a:spcPct val="150000"/>
              </a:lnSpc>
              <a:buFont typeface="Arial" panose="020B0604020202020204" pitchFamily="34" charset="0"/>
              <a:buChar char="•"/>
            </a:pPr>
            <a:r>
              <a:rPr kumimoji="1" lang="en-US" altLang="ja-JP" sz="2400" dirty="0"/>
              <a:t>CSS</a:t>
            </a:r>
            <a:endParaRPr kumimoji="1" lang="ja-JP" altLang="en-US" sz="2400" dirty="0"/>
          </a:p>
        </p:txBody>
      </p:sp>
      <p:sp>
        <p:nvSpPr>
          <p:cNvPr id="5" name="テキスト ボックス 4">
            <a:extLst>
              <a:ext uri="{FF2B5EF4-FFF2-40B4-BE49-F238E27FC236}">
                <a16:creationId xmlns:a16="http://schemas.microsoft.com/office/drawing/2014/main" id="{85F898DD-7A39-4230-B61D-7CD2F63FAE76}"/>
              </a:ext>
            </a:extLst>
          </p:cNvPr>
          <p:cNvSpPr txBox="1"/>
          <p:nvPr/>
        </p:nvSpPr>
        <p:spPr>
          <a:xfrm>
            <a:off x="1009648" y="4054196"/>
            <a:ext cx="3390901" cy="2133469"/>
          </a:xfrm>
          <a:prstGeom prst="rect">
            <a:avLst/>
          </a:prstGeom>
          <a:noFill/>
        </p:spPr>
        <p:txBody>
          <a:bodyPr wrap="square" rtlCol="0">
            <a:spAutoFit/>
          </a:bodyPr>
          <a:lstStyle/>
          <a:p>
            <a:r>
              <a:rPr kumimoji="1" lang="en-US" altLang="ja-JP" sz="2800" dirty="0"/>
              <a:t>【</a:t>
            </a:r>
            <a:r>
              <a:rPr lang="ja-JP" altLang="en-US" sz="2800" dirty="0"/>
              <a:t>バック</a:t>
            </a:r>
            <a:r>
              <a:rPr kumimoji="1" lang="ja-JP" altLang="en-US" sz="2800" dirty="0"/>
              <a:t>エンド</a:t>
            </a:r>
            <a:r>
              <a:rPr kumimoji="1" lang="en-US" altLang="ja-JP" sz="2800" dirty="0"/>
              <a:t>】</a:t>
            </a:r>
          </a:p>
          <a:p>
            <a:pPr marL="285750" indent="-285750">
              <a:lnSpc>
                <a:spcPct val="150000"/>
              </a:lnSpc>
              <a:buFont typeface="Arial" panose="020B0604020202020204" pitchFamily="34" charset="0"/>
              <a:buChar char="•"/>
            </a:pPr>
            <a:r>
              <a:rPr lang="en-US" altLang="ja-JP" sz="2400" dirty="0"/>
              <a:t>C#</a:t>
            </a:r>
          </a:p>
          <a:p>
            <a:pPr marL="285750" indent="-285750">
              <a:lnSpc>
                <a:spcPct val="150000"/>
              </a:lnSpc>
              <a:buFont typeface="Arial" panose="020B0604020202020204" pitchFamily="34" charset="0"/>
              <a:buChar char="•"/>
            </a:pPr>
            <a:r>
              <a:rPr lang="en-US" altLang="ja-JP" sz="2400" dirty="0"/>
              <a:t>ASP.NET Core</a:t>
            </a:r>
          </a:p>
          <a:p>
            <a:pPr marL="285750" indent="-285750">
              <a:lnSpc>
                <a:spcPct val="150000"/>
              </a:lnSpc>
              <a:buFont typeface="Arial" panose="020B0604020202020204" pitchFamily="34" charset="0"/>
              <a:buChar char="•"/>
            </a:pPr>
            <a:r>
              <a:rPr lang="en-US" altLang="ja-JP" sz="2400" dirty="0"/>
              <a:t>Razor Pages</a:t>
            </a:r>
            <a:endParaRPr kumimoji="1" lang="ja-JP" altLang="en-US" sz="2400" dirty="0"/>
          </a:p>
        </p:txBody>
      </p:sp>
      <p:sp>
        <p:nvSpPr>
          <p:cNvPr id="6" name="テキスト ボックス 5">
            <a:extLst>
              <a:ext uri="{FF2B5EF4-FFF2-40B4-BE49-F238E27FC236}">
                <a16:creationId xmlns:a16="http://schemas.microsoft.com/office/drawing/2014/main" id="{FA8D5839-89F6-49F6-BB73-913ED8292A3A}"/>
              </a:ext>
            </a:extLst>
          </p:cNvPr>
          <p:cNvSpPr txBox="1"/>
          <p:nvPr/>
        </p:nvSpPr>
        <p:spPr>
          <a:xfrm>
            <a:off x="5624514" y="1919733"/>
            <a:ext cx="5691188" cy="1815882"/>
          </a:xfrm>
          <a:prstGeom prst="rect">
            <a:avLst/>
          </a:prstGeom>
          <a:noFill/>
        </p:spPr>
        <p:txBody>
          <a:bodyPr wrap="square" rtlCol="0">
            <a:spAutoFit/>
          </a:bodyPr>
          <a:lstStyle/>
          <a:p>
            <a:r>
              <a:rPr kumimoji="1" lang="en-US" altLang="ja-JP" sz="2800" dirty="0"/>
              <a:t>【</a:t>
            </a:r>
            <a:r>
              <a:rPr lang="en-US" altLang="ja-JP" sz="2800" dirty="0"/>
              <a:t>DB</a:t>
            </a:r>
            <a:r>
              <a:rPr kumimoji="1" lang="en-US" altLang="ja-JP" sz="2800" dirty="0"/>
              <a:t>】</a:t>
            </a:r>
          </a:p>
          <a:p>
            <a:pPr marL="285750" indent="-285750">
              <a:lnSpc>
                <a:spcPct val="150000"/>
              </a:lnSpc>
              <a:buFont typeface="Arial" panose="020B0604020202020204" pitchFamily="34" charset="0"/>
              <a:buChar char="•"/>
            </a:pPr>
            <a:r>
              <a:rPr lang="en-US" altLang="ja-JP" sz="2400" dirty="0"/>
              <a:t>SQL Server</a:t>
            </a:r>
          </a:p>
          <a:p>
            <a:pPr marL="285750" indent="-285750">
              <a:buFont typeface="Arial" panose="020B0604020202020204" pitchFamily="34" charset="0"/>
              <a:buChar char="•"/>
            </a:pPr>
            <a:r>
              <a:rPr lang="en-US" altLang="ja-JP" sz="2400" dirty="0"/>
              <a:t>SQL Server Management Studio (SSMS)</a:t>
            </a:r>
          </a:p>
        </p:txBody>
      </p:sp>
      <p:sp>
        <p:nvSpPr>
          <p:cNvPr id="7" name="テキスト ボックス 6">
            <a:extLst>
              <a:ext uri="{FF2B5EF4-FFF2-40B4-BE49-F238E27FC236}">
                <a16:creationId xmlns:a16="http://schemas.microsoft.com/office/drawing/2014/main" id="{46BA38DC-E7D1-4F76-9BD0-787B30407E1A}"/>
              </a:ext>
            </a:extLst>
          </p:cNvPr>
          <p:cNvSpPr txBox="1"/>
          <p:nvPr/>
        </p:nvSpPr>
        <p:spPr>
          <a:xfrm>
            <a:off x="5624514" y="4054196"/>
            <a:ext cx="3919538" cy="1354217"/>
          </a:xfrm>
          <a:prstGeom prst="rect">
            <a:avLst/>
          </a:prstGeom>
          <a:noFill/>
        </p:spPr>
        <p:txBody>
          <a:bodyPr wrap="square" rtlCol="0">
            <a:spAutoFit/>
          </a:bodyPr>
          <a:lstStyle/>
          <a:p>
            <a:r>
              <a:rPr kumimoji="1" lang="en-US" altLang="ja-JP" sz="2800" dirty="0"/>
              <a:t>【</a:t>
            </a:r>
            <a:r>
              <a:rPr lang="ja-JP" altLang="en-US" sz="2800" dirty="0"/>
              <a:t>開発環境</a:t>
            </a:r>
            <a:r>
              <a:rPr kumimoji="1" lang="en-US" altLang="ja-JP" sz="2800" dirty="0"/>
              <a:t>】</a:t>
            </a:r>
          </a:p>
          <a:p>
            <a:pPr marL="285750" indent="-285750">
              <a:lnSpc>
                <a:spcPct val="150000"/>
              </a:lnSpc>
              <a:buFont typeface="Arial" panose="020B0604020202020204" pitchFamily="34" charset="0"/>
              <a:buChar char="•"/>
            </a:pPr>
            <a:r>
              <a:rPr lang="en-US" altLang="ja-JP" sz="2400" dirty="0"/>
              <a:t>Visual Studio 2026</a:t>
            </a:r>
          </a:p>
          <a:p>
            <a:pPr marL="285750" indent="-285750">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553571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latin typeface="+mj-ea"/>
              </a:rPr>
              <a:t>デモンストレーション</a:t>
            </a:r>
            <a:endParaRPr kumimoji="1" lang="ja-JP" altLang="en-US" dirty="0">
              <a:latin typeface="+mj-ea"/>
            </a:endParaRPr>
          </a:p>
        </p:txBody>
      </p:sp>
      <p:sp>
        <p:nvSpPr>
          <p:cNvPr id="3" name="コンテンツ プレースホルダー 2">
            <a:extLst>
              <a:ext uri="{FF2B5EF4-FFF2-40B4-BE49-F238E27FC236}">
                <a16:creationId xmlns:a16="http://schemas.microsoft.com/office/drawing/2014/main" id="{E89FE1EB-09A4-4B24-AA9B-41856D02A1AB}"/>
              </a:ext>
            </a:extLst>
          </p:cNvPr>
          <p:cNvSpPr>
            <a:spLocks noGrp="1"/>
          </p:cNvSpPr>
          <p:nvPr>
            <p:ph idx="1"/>
          </p:nvPr>
        </p:nvSpPr>
        <p:spPr>
          <a:xfrm>
            <a:off x="1738313" y="1839912"/>
            <a:ext cx="3019425" cy="4351338"/>
          </a:xfrm>
        </p:spPr>
        <p:txBody>
          <a:bodyPr>
            <a:normAutofit/>
          </a:bodyPr>
          <a:lstStyle/>
          <a:p>
            <a:pPr marL="0" indent="0">
              <a:buNone/>
            </a:pPr>
            <a:r>
              <a:rPr lang="en-US" altLang="ja-JP" sz="3600" dirty="0"/>
              <a:t>【</a:t>
            </a:r>
            <a:r>
              <a:rPr lang="ja-JP" altLang="en-US" sz="3600" dirty="0"/>
              <a:t>実演内容</a:t>
            </a:r>
            <a:r>
              <a:rPr lang="en-US" altLang="ja-JP" sz="3600" dirty="0"/>
              <a:t>】</a:t>
            </a:r>
          </a:p>
          <a:p>
            <a:pPr>
              <a:lnSpc>
                <a:spcPct val="150000"/>
              </a:lnSpc>
            </a:pPr>
            <a:r>
              <a:rPr lang="ja-JP" altLang="en-US" sz="2400" dirty="0"/>
              <a:t>ログイン</a:t>
            </a:r>
            <a:endParaRPr lang="en-US" altLang="ja-JP" sz="2400" dirty="0"/>
          </a:p>
          <a:p>
            <a:pPr>
              <a:lnSpc>
                <a:spcPct val="150000"/>
              </a:lnSpc>
            </a:pPr>
            <a:r>
              <a:rPr lang="zh-TW" altLang="en-US" sz="2400" dirty="0"/>
              <a:t>蔵書詳細表示</a:t>
            </a:r>
            <a:endParaRPr lang="en-US" altLang="zh-TW" sz="2400" dirty="0"/>
          </a:p>
          <a:p>
            <a:pPr>
              <a:lnSpc>
                <a:spcPct val="150000"/>
              </a:lnSpc>
            </a:pPr>
            <a:r>
              <a:rPr lang="ja-JP" altLang="en-US" sz="2400" dirty="0"/>
              <a:t>貸出処理</a:t>
            </a:r>
          </a:p>
          <a:p>
            <a:pPr>
              <a:lnSpc>
                <a:spcPct val="150000"/>
              </a:lnSpc>
            </a:pPr>
            <a:r>
              <a:rPr lang="ja-JP" altLang="en-US" sz="2400" dirty="0"/>
              <a:t>返却処理</a:t>
            </a:r>
            <a:endParaRPr lang="en-US" altLang="ja-JP" sz="2400" dirty="0"/>
          </a:p>
          <a:p>
            <a:pPr>
              <a:lnSpc>
                <a:spcPct val="150000"/>
              </a:lnSpc>
            </a:pPr>
            <a:r>
              <a:rPr lang="zh-TW" altLang="en-US" sz="2400" dirty="0"/>
              <a:t>貸出履歴表示</a:t>
            </a:r>
            <a:endParaRPr lang="en-US" altLang="ja-JP" sz="2400" dirty="0"/>
          </a:p>
          <a:p>
            <a:endParaRPr lang="en-US" altLang="ja-JP" sz="3600" dirty="0"/>
          </a:p>
          <a:p>
            <a:endParaRPr kumimoji="1" lang="ja-JP" altLang="en-US" sz="3600" dirty="0"/>
          </a:p>
        </p:txBody>
      </p:sp>
      <p:pic>
        <p:nvPicPr>
          <p:cNvPr id="6" name="図 5">
            <a:extLst>
              <a:ext uri="{FF2B5EF4-FFF2-40B4-BE49-F238E27FC236}">
                <a16:creationId xmlns:a16="http://schemas.microsoft.com/office/drawing/2014/main" id="{BC272E2A-24C4-48E3-BB5D-E89F5ADA3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4723" y="1530404"/>
            <a:ext cx="4565394" cy="4970353"/>
          </a:xfrm>
          <a:prstGeom prst="rect">
            <a:avLst/>
          </a:prstGeom>
        </p:spPr>
      </p:pic>
    </p:spTree>
    <p:extLst>
      <p:ext uri="{BB962C8B-B14F-4D97-AF65-F5344CB8AC3E}">
        <p14:creationId xmlns:p14="http://schemas.microsoft.com/office/powerpoint/2010/main" val="3485441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latin typeface="+mj-ea"/>
              </a:rPr>
              <a:t>総合演習の所感</a:t>
            </a:r>
            <a:endParaRPr kumimoji="1" lang="ja-JP" altLang="en-US" dirty="0">
              <a:latin typeface="+mj-ea"/>
            </a:endParaRPr>
          </a:p>
        </p:txBody>
      </p:sp>
      <p:sp>
        <p:nvSpPr>
          <p:cNvPr id="3" name="コンテンツ プレースホルダー 2">
            <a:extLst>
              <a:ext uri="{FF2B5EF4-FFF2-40B4-BE49-F238E27FC236}">
                <a16:creationId xmlns:a16="http://schemas.microsoft.com/office/drawing/2014/main" id="{E89FE1EB-09A4-4B24-AA9B-41856D02A1AB}"/>
              </a:ext>
            </a:extLst>
          </p:cNvPr>
          <p:cNvSpPr>
            <a:spLocks noGrp="1"/>
          </p:cNvSpPr>
          <p:nvPr>
            <p:ph idx="1"/>
          </p:nvPr>
        </p:nvSpPr>
        <p:spPr>
          <a:xfrm>
            <a:off x="838200" y="1879414"/>
            <a:ext cx="10515600" cy="4351338"/>
          </a:xfrm>
        </p:spPr>
        <p:txBody>
          <a:bodyPr/>
          <a:lstStyle/>
          <a:p>
            <a:pPr marL="0" indent="0">
              <a:buNone/>
            </a:pPr>
            <a:r>
              <a:rPr lang="en-US" altLang="ja-JP" dirty="0"/>
              <a:t>【</a:t>
            </a:r>
            <a:r>
              <a:rPr lang="ja-JP" altLang="en-US" dirty="0"/>
              <a:t>学んだこと</a:t>
            </a:r>
            <a:r>
              <a:rPr lang="en-US" altLang="ja-JP" dirty="0"/>
              <a:t>】</a:t>
            </a:r>
          </a:p>
          <a:p>
            <a:pPr>
              <a:lnSpc>
                <a:spcPct val="150000"/>
              </a:lnSpc>
            </a:pPr>
            <a:r>
              <a:rPr lang="en-US" altLang="ja-JP" sz="2400" dirty="0"/>
              <a:t>Razor Pages</a:t>
            </a:r>
            <a:r>
              <a:rPr lang="ja-JP" altLang="en-US" sz="2400" dirty="0"/>
              <a:t>による</a:t>
            </a:r>
            <a:r>
              <a:rPr lang="en-US" altLang="ja-JP" sz="2400" dirty="0"/>
              <a:t>Web</a:t>
            </a:r>
            <a:r>
              <a:rPr lang="ja-JP" altLang="en-US" sz="2400" dirty="0"/>
              <a:t>アプリ開発</a:t>
            </a:r>
            <a:endParaRPr lang="en-US" altLang="ja-JP" sz="2400" dirty="0"/>
          </a:p>
          <a:p>
            <a:pPr>
              <a:lnSpc>
                <a:spcPct val="150000"/>
              </a:lnSpc>
            </a:pPr>
            <a:r>
              <a:rPr lang="en-US" altLang="ja-JP" sz="2400" dirty="0"/>
              <a:t>SQL Server</a:t>
            </a:r>
            <a:r>
              <a:rPr lang="ja-JP" altLang="en-US" sz="2400" dirty="0"/>
              <a:t>とのデータ連携</a:t>
            </a:r>
            <a:endParaRPr lang="en-US" altLang="ja-JP" sz="2400" dirty="0"/>
          </a:p>
          <a:p>
            <a:pPr marL="0" indent="0">
              <a:buNone/>
            </a:pPr>
            <a:endParaRPr lang="en-US" altLang="ja-JP" dirty="0"/>
          </a:p>
          <a:p>
            <a:pPr marL="0" indent="0">
              <a:buNone/>
            </a:pPr>
            <a:r>
              <a:rPr lang="en-US" altLang="ja-JP" dirty="0"/>
              <a:t>【</a:t>
            </a:r>
            <a:r>
              <a:rPr lang="ja-JP" altLang="en-US" dirty="0"/>
              <a:t>苦労したこと</a:t>
            </a:r>
            <a:r>
              <a:rPr lang="en-US" altLang="ja-JP" dirty="0"/>
              <a:t>】</a:t>
            </a:r>
          </a:p>
          <a:p>
            <a:pPr>
              <a:lnSpc>
                <a:spcPct val="150000"/>
              </a:lnSpc>
            </a:pPr>
            <a:r>
              <a:rPr lang="ja-JP" altLang="en-US" sz="2400" dirty="0"/>
              <a:t>画面と</a:t>
            </a:r>
            <a:r>
              <a:rPr lang="en-US" altLang="ja-JP" sz="2400" dirty="0"/>
              <a:t>DB</a:t>
            </a:r>
            <a:r>
              <a:rPr lang="ja-JP" altLang="en-US" sz="2400" dirty="0"/>
              <a:t>の連携</a:t>
            </a:r>
            <a:endParaRPr lang="en-US" altLang="ja-JP" sz="2400" dirty="0"/>
          </a:p>
          <a:p>
            <a:pPr>
              <a:lnSpc>
                <a:spcPct val="150000"/>
              </a:lnSpc>
            </a:pPr>
            <a:r>
              <a:rPr lang="en-US" altLang="ja-JP" sz="2400" dirty="0"/>
              <a:t>GET/POST</a:t>
            </a:r>
            <a:r>
              <a:rPr lang="ja-JP" altLang="en-US" sz="2400" dirty="0"/>
              <a:t>の処理の流れの理解</a:t>
            </a:r>
            <a:endParaRPr kumimoji="1" lang="ja-JP" altLang="en-US" sz="2400" dirty="0"/>
          </a:p>
        </p:txBody>
      </p:sp>
    </p:spTree>
    <p:extLst>
      <p:ext uri="{BB962C8B-B14F-4D97-AF65-F5344CB8AC3E}">
        <p14:creationId xmlns:p14="http://schemas.microsoft.com/office/powerpoint/2010/main" val="187286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lang="ja-JP" altLang="en-US" dirty="0">
                <a:latin typeface="+mj-ea"/>
              </a:rPr>
              <a:t>研修全体の所感</a:t>
            </a:r>
            <a:endParaRPr kumimoji="1" lang="ja-JP" altLang="en-US" dirty="0">
              <a:latin typeface="+mj-ea"/>
            </a:endParaRPr>
          </a:p>
        </p:txBody>
      </p:sp>
      <p:sp>
        <p:nvSpPr>
          <p:cNvPr id="3" name="コンテンツ プレースホルダー 2">
            <a:extLst>
              <a:ext uri="{FF2B5EF4-FFF2-40B4-BE49-F238E27FC236}">
                <a16:creationId xmlns:a16="http://schemas.microsoft.com/office/drawing/2014/main" id="{E89FE1EB-09A4-4B24-AA9B-41856D02A1AB}"/>
              </a:ext>
            </a:extLst>
          </p:cNvPr>
          <p:cNvSpPr>
            <a:spLocks noGrp="1"/>
          </p:cNvSpPr>
          <p:nvPr>
            <p:ph idx="1"/>
          </p:nvPr>
        </p:nvSpPr>
        <p:spPr>
          <a:xfrm>
            <a:off x="838200" y="1825625"/>
            <a:ext cx="9363635" cy="4351338"/>
          </a:xfrm>
        </p:spPr>
        <p:txBody>
          <a:bodyPr/>
          <a:lstStyle/>
          <a:p>
            <a:pPr marL="514350" indent="-514350">
              <a:lnSpc>
                <a:spcPct val="200000"/>
              </a:lnSpc>
              <a:buFont typeface="+mj-lt"/>
              <a:buAutoNum type="arabicPeriod"/>
            </a:pPr>
            <a:r>
              <a:rPr kumimoji="1" lang="en-US" altLang="ja-JP" dirty="0"/>
              <a:t>C#</a:t>
            </a:r>
            <a:r>
              <a:rPr kumimoji="1" lang="ja-JP" altLang="en-US" dirty="0"/>
              <a:t>の基礎知識の習得</a:t>
            </a:r>
            <a:endParaRPr kumimoji="1" lang="en-US" altLang="ja-JP" dirty="0"/>
          </a:p>
          <a:p>
            <a:pPr marL="514350" indent="-514350">
              <a:lnSpc>
                <a:spcPct val="200000"/>
              </a:lnSpc>
              <a:buFont typeface="+mj-lt"/>
              <a:buAutoNum type="arabicPeriod"/>
            </a:pPr>
            <a:r>
              <a:rPr kumimoji="1" lang="ja-JP" altLang="en-US" dirty="0"/>
              <a:t>オブジェクト指向の理解</a:t>
            </a:r>
          </a:p>
          <a:p>
            <a:pPr marL="514350" indent="-514350">
              <a:lnSpc>
                <a:spcPct val="200000"/>
              </a:lnSpc>
              <a:buFont typeface="+mj-lt"/>
              <a:buAutoNum type="arabicPeriod"/>
            </a:pPr>
            <a:r>
              <a:rPr kumimoji="1" lang="ja-JP" altLang="en-US" dirty="0"/>
              <a:t>データベース連携の習得</a:t>
            </a:r>
            <a:endParaRPr lang="en-US" altLang="ja-JP" dirty="0"/>
          </a:p>
          <a:p>
            <a:pPr marL="514350" indent="-514350">
              <a:lnSpc>
                <a:spcPct val="200000"/>
              </a:lnSpc>
              <a:buFont typeface="+mj-lt"/>
              <a:buAutoNum type="arabicPeriod"/>
            </a:pPr>
            <a:r>
              <a:rPr kumimoji="1" lang="en-US" altLang="ja-JP" dirty="0"/>
              <a:t>Web</a:t>
            </a:r>
            <a:r>
              <a:rPr kumimoji="1" lang="ja-JP" altLang="en-US" dirty="0"/>
              <a:t>アプリケーション開発の経験</a:t>
            </a:r>
          </a:p>
        </p:txBody>
      </p:sp>
    </p:spTree>
    <p:extLst>
      <p:ext uri="{BB962C8B-B14F-4D97-AF65-F5344CB8AC3E}">
        <p14:creationId xmlns:p14="http://schemas.microsoft.com/office/powerpoint/2010/main" val="34290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569D8B-F13B-4EEB-848C-07D8B6399149}"/>
              </a:ext>
            </a:extLst>
          </p:cNvPr>
          <p:cNvSpPr>
            <a:spLocks noGrp="1"/>
          </p:cNvSpPr>
          <p:nvPr>
            <p:ph type="title"/>
          </p:nvPr>
        </p:nvSpPr>
        <p:spPr/>
        <p:txBody>
          <a:bodyPr/>
          <a:lstStyle/>
          <a:p>
            <a:r>
              <a:rPr kumimoji="1" lang="ja-JP" altLang="en-US" dirty="0">
                <a:latin typeface="+mj-ea"/>
              </a:rPr>
              <a:t>まとめ</a:t>
            </a:r>
          </a:p>
        </p:txBody>
      </p:sp>
      <p:sp>
        <p:nvSpPr>
          <p:cNvPr id="3" name="コンテンツ プレースホルダー 2">
            <a:extLst>
              <a:ext uri="{FF2B5EF4-FFF2-40B4-BE49-F238E27FC236}">
                <a16:creationId xmlns:a16="http://schemas.microsoft.com/office/drawing/2014/main" id="{E89FE1EB-09A4-4B24-AA9B-41856D02A1AB}"/>
              </a:ext>
            </a:extLst>
          </p:cNvPr>
          <p:cNvSpPr>
            <a:spLocks noGrp="1"/>
          </p:cNvSpPr>
          <p:nvPr>
            <p:ph idx="1"/>
          </p:nvPr>
        </p:nvSpPr>
        <p:spPr>
          <a:xfrm>
            <a:off x="658906" y="1490570"/>
            <a:ext cx="10278035" cy="5163670"/>
          </a:xfrm>
        </p:spPr>
        <p:txBody>
          <a:bodyPr/>
          <a:lstStyle/>
          <a:p>
            <a:pPr marL="0" indent="0">
              <a:lnSpc>
                <a:spcPct val="200000"/>
              </a:lnSpc>
              <a:buNone/>
            </a:pPr>
            <a:r>
              <a:rPr lang="en-US" altLang="ja-JP" dirty="0"/>
              <a:t>【</a:t>
            </a:r>
            <a:r>
              <a:rPr lang="ja-JP" altLang="en-US" dirty="0"/>
              <a:t>今後に向けて</a:t>
            </a:r>
            <a:r>
              <a:rPr lang="en-US" altLang="ja-JP" dirty="0"/>
              <a:t>】</a:t>
            </a:r>
          </a:p>
          <a:p>
            <a:pPr marL="0" indent="0">
              <a:lnSpc>
                <a:spcPct val="100000"/>
              </a:lnSpc>
              <a:buNone/>
            </a:pPr>
            <a:r>
              <a:rPr lang="ja-JP" altLang="en-US" sz="2400" dirty="0"/>
              <a:t>研修を通じて、プログラミングの基礎から</a:t>
            </a:r>
            <a:r>
              <a:rPr lang="en-US" altLang="ja-JP" sz="2400" dirty="0"/>
              <a:t>Web</a:t>
            </a:r>
            <a:r>
              <a:rPr lang="ja-JP" altLang="en-US" sz="2400" dirty="0"/>
              <a:t>アプリケーション開発まで幅広く学ぶことができました。</a:t>
            </a:r>
            <a:endParaRPr lang="en-US" altLang="ja-JP" sz="2400" dirty="0"/>
          </a:p>
          <a:p>
            <a:pPr marL="0" indent="0">
              <a:lnSpc>
                <a:spcPct val="150000"/>
              </a:lnSpc>
              <a:buNone/>
            </a:pPr>
            <a:r>
              <a:rPr lang="ja-JP" altLang="en-US" sz="2400" dirty="0"/>
              <a:t>今後は研修で身につけた知識を実務で活用しながら、より実践的な技術や業務知識を習得していきたいと考えています。</a:t>
            </a:r>
            <a:endParaRPr lang="en-US" altLang="ja-JP" sz="2400" dirty="0"/>
          </a:p>
          <a:p>
            <a:pPr marL="0" indent="0">
              <a:lnSpc>
                <a:spcPct val="150000"/>
              </a:lnSpc>
              <a:buNone/>
            </a:pPr>
            <a:r>
              <a:rPr lang="ja-JP" altLang="en-US" sz="2400" dirty="0"/>
              <a:t>また、開発だけでなくデータベースやインフラについても学習を継続し、幅広い視点でシステムに関わることができるエンジニアを目指したいです。</a:t>
            </a:r>
            <a:endParaRPr lang="en-US" altLang="ja-JP" sz="2400" dirty="0"/>
          </a:p>
          <a:p>
            <a:pPr marL="0" indent="0">
              <a:lnSpc>
                <a:spcPct val="100000"/>
              </a:lnSpc>
              <a:buNone/>
            </a:pPr>
            <a:endParaRPr lang="en-US" altLang="ja-JP" dirty="0"/>
          </a:p>
        </p:txBody>
      </p:sp>
    </p:spTree>
    <p:extLst>
      <p:ext uri="{BB962C8B-B14F-4D97-AF65-F5344CB8AC3E}">
        <p14:creationId xmlns:p14="http://schemas.microsoft.com/office/powerpoint/2010/main" val="2853450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8A297C-B9E2-C663-3F37-7E8663338CBB}"/>
              </a:ext>
            </a:extLst>
          </p:cNvPr>
          <p:cNvSpPr>
            <a:spLocks noGrp="1"/>
          </p:cNvSpPr>
          <p:nvPr>
            <p:ph type="ctrTitle"/>
          </p:nvPr>
        </p:nvSpPr>
        <p:spPr>
          <a:xfrm>
            <a:off x="1075764" y="2846575"/>
            <a:ext cx="10040471" cy="1164850"/>
          </a:xfrm>
        </p:spPr>
        <p:txBody>
          <a:bodyPr>
            <a:normAutofit/>
          </a:bodyPr>
          <a:lstStyle/>
          <a:p>
            <a:pPr>
              <a:lnSpc>
                <a:spcPct val="100000"/>
              </a:lnSpc>
            </a:pPr>
            <a:r>
              <a:rPr kumimoji="1" lang="ja-JP" altLang="en-US" sz="5400" dirty="0">
                <a:latin typeface="游ゴシック" panose="020B0400000000000000" pitchFamily="50" charset="-128"/>
                <a:ea typeface="游ゴシック" panose="020B0400000000000000" pitchFamily="50" charset="-128"/>
              </a:rPr>
              <a:t>ご清聴ありがとうございました</a:t>
            </a:r>
          </a:p>
        </p:txBody>
      </p:sp>
      <p:sp>
        <p:nvSpPr>
          <p:cNvPr id="6" name="フッター プレースホルダー 5">
            <a:extLst>
              <a:ext uri="{FF2B5EF4-FFF2-40B4-BE49-F238E27FC236}">
                <a16:creationId xmlns:a16="http://schemas.microsoft.com/office/drawing/2014/main" id="{93C90E47-6256-4804-BFF9-25BDDC54097D}"/>
              </a:ext>
            </a:extLst>
          </p:cNvPr>
          <p:cNvSpPr>
            <a:spLocks noGrp="1"/>
          </p:cNvSpPr>
          <p:nvPr>
            <p:ph type="ftr" sz="quarter" idx="11"/>
          </p:nvPr>
        </p:nvSpPr>
        <p:spPr>
          <a:xfrm>
            <a:off x="5276850" y="5743575"/>
            <a:ext cx="8058150" cy="877887"/>
          </a:xfrm>
        </p:spPr>
        <p:txBody>
          <a:bodyPr/>
          <a:lstStyle/>
          <a:p>
            <a:r>
              <a:rPr kumimoji="1" lang="ja-JP" altLang="en-US" sz="2400" dirty="0">
                <a:solidFill>
                  <a:schemeClr val="tx1"/>
                </a:solidFill>
              </a:rPr>
              <a:t>株式会社マプコン 中澤 拓也</a:t>
            </a:r>
          </a:p>
        </p:txBody>
      </p:sp>
    </p:spTree>
    <p:extLst>
      <p:ext uri="{BB962C8B-B14F-4D97-AF65-F5344CB8AC3E}">
        <p14:creationId xmlns:p14="http://schemas.microsoft.com/office/powerpoint/2010/main" val="312031277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Words>
  <Application>Microsoft Office PowerPoint</Application>
  <PresentationFormat>ワイド画面</PresentationFormat>
  <Paragraphs>129</Paragraphs>
  <Slides>11</Slides>
  <Notes>11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蔵書管理システム 総合演習 発表</vt:lpstr>
      <vt:lpstr>目次</vt:lpstr>
      <vt:lpstr>システム概要・主要機能</vt:lpstr>
      <vt:lpstr>開発目的</vt:lpstr>
      <vt:lpstr>アプリケーション構成</vt:lpstr>
      <vt:lpstr>使用技術</vt:lpstr>
      <vt:lpstr>デモンストレーション</vt:lpstr>
      <vt:lpstr>総合演習の所感</vt:lpstr>
      <vt:lpstr>研修全体の所感</vt:lpstr>
      <vt:lpstr>まとめ</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2026-05-26T20:40:35Z</dcterms:created>
  <dcterms:modified xsi:type="dcterms:W3CDTF">2026-05-29T03:18:36Z</dcterms:modified>
</cp:coreProperties>
</file>